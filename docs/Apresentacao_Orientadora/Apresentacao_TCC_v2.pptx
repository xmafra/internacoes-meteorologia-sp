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cae827fece488b" /><Relationship Type="http://schemas.openxmlformats.org/officeDocument/2006/relationships/extended-properties" Target="/docProps/app.xml" Id="R9abc00af10df4de8" /><Relationship Type="http://schemas.openxmlformats.org/officeDocument/2006/relationships/officeDocument" Target="/ppt/presentation.xml" Id="R6f7337d51b044f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25974f605d464c"/>
  </p:sldMasterIdLst>
  <p:notesMasterIdLst>
    <p:notesMasterId xmlns:r="http://schemas.openxmlformats.org/officeDocument/2006/relationships" r:id="Rfbc358390673402f"/>
  </p:notesMasterIdLst>
  <p:sldIdLst>
    <p:sldId xmlns:r="http://schemas.openxmlformats.org/officeDocument/2006/relationships" id="256" r:id="R4db2c40186194155"/>
    <p:sldId xmlns:r="http://schemas.openxmlformats.org/officeDocument/2006/relationships" id="257" r:id="R6ad03a4cc02f42e9"/>
    <p:sldId xmlns:r="http://schemas.openxmlformats.org/officeDocument/2006/relationships" id="258" r:id="Re8ed5405b0454ab7"/>
    <p:sldId xmlns:r="http://schemas.openxmlformats.org/officeDocument/2006/relationships" id="259" r:id="R79369c1012da4748"/>
    <p:sldId xmlns:r="http://schemas.openxmlformats.org/officeDocument/2006/relationships" id="260" r:id="R1f283548ed56482c"/>
    <p:sldId xmlns:r="http://schemas.openxmlformats.org/officeDocument/2006/relationships" id="261" r:id="R90b4a9149e2744f9"/>
    <p:sldId xmlns:r="http://schemas.openxmlformats.org/officeDocument/2006/relationships" id="262" r:id="R5ed1c4567eaf482d"/>
    <p:sldId xmlns:r="http://schemas.openxmlformats.org/officeDocument/2006/relationships" id="263" r:id="Rbc8ca0c5fc994790"/>
    <p:sldId xmlns:r="http://schemas.openxmlformats.org/officeDocument/2006/relationships" id="264" r:id="Rcf1f6a826999425a"/>
    <p:sldId xmlns:r="http://schemas.openxmlformats.org/officeDocument/2006/relationships" id="265" r:id="Rccfafbeb49914a52"/>
    <p:sldId xmlns:r="http://schemas.openxmlformats.org/officeDocument/2006/relationships" id="266" r:id="R89d6072cba2144aa"/>
    <p:sldId xmlns:r="http://schemas.openxmlformats.org/officeDocument/2006/relationships" id="267" r:id="R6ca03df908a64b02"/>
    <p:sldId xmlns:r="http://schemas.openxmlformats.org/officeDocument/2006/relationships" id="268" r:id="Red86b1a522e742f9"/>
    <p:sldId xmlns:r="http://schemas.openxmlformats.org/officeDocument/2006/relationships" id="269" r:id="Rda4f225984164c7f"/>
    <p:sldId xmlns:r="http://schemas.openxmlformats.org/officeDocument/2006/relationships" id="270" r:id="Rbe86cedaefff498d"/>
    <p:sldId xmlns:r="http://schemas.openxmlformats.org/officeDocument/2006/relationships" id="271" r:id="R4c7fd8c59dad42d7"/>
    <p:sldId xmlns:r="http://schemas.openxmlformats.org/officeDocument/2006/relationships" id="272" r:id="Rd3d3f8b6dfd643c7"/>
    <p:sldId xmlns:r="http://schemas.openxmlformats.org/officeDocument/2006/relationships" id="273" r:id="R32b8185739b34897"/>
    <p:sldId xmlns:r="http://schemas.openxmlformats.org/officeDocument/2006/relationships" id="274" r:id="Re5d1e58a655a4d3c"/>
    <p:sldId xmlns:r="http://schemas.openxmlformats.org/officeDocument/2006/relationships" id="275" r:id="Rb140bc117b2c4a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b262f3625b4f96" /><Relationship Type="http://schemas.openxmlformats.org/officeDocument/2006/relationships/slideMaster" Target="/ppt/slideMasters/slideMaster1.xml" Id="Rf625974f605d464c" /><Relationship Type="http://schemas.openxmlformats.org/officeDocument/2006/relationships/notesMaster" Target="/ppt/notesMasters/notesMaster1.xml" Id="Rfbc358390673402f" /><Relationship Type="http://schemas.openxmlformats.org/officeDocument/2006/relationships/presProps" Target="/ppt/presProps.xml" Id="R70c4957faea343d2" /><Relationship Type="http://schemas.openxmlformats.org/officeDocument/2006/relationships/tableStyles" Target="/ppt/tableStyles.xml" Id="R6413c05eb0da45eb" /><Relationship Type="http://schemas.openxmlformats.org/officeDocument/2006/relationships/slide" Target="/ppt/slides/slide1.xml" Id="R4db2c40186194155" /><Relationship Type="http://schemas.openxmlformats.org/officeDocument/2006/relationships/slide" Target="/ppt/slides/slide2.xml" Id="R6ad03a4cc02f42e9" /><Relationship Type="http://schemas.openxmlformats.org/officeDocument/2006/relationships/slide" Target="/ppt/slides/slide3.xml" Id="Re8ed5405b0454ab7" /><Relationship Type="http://schemas.openxmlformats.org/officeDocument/2006/relationships/slide" Target="/ppt/slides/slide4.xml" Id="R79369c1012da4748" /><Relationship Type="http://schemas.openxmlformats.org/officeDocument/2006/relationships/slide" Target="/ppt/slides/slide5.xml" Id="R1f283548ed56482c" /><Relationship Type="http://schemas.openxmlformats.org/officeDocument/2006/relationships/slide" Target="/ppt/slides/slide6.xml" Id="R90b4a9149e2744f9" /><Relationship Type="http://schemas.openxmlformats.org/officeDocument/2006/relationships/slide" Target="/ppt/slides/slide7.xml" Id="R5ed1c4567eaf482d" /><Relationship Type="http://schemas.openxmlformats.org/officeDocument/2006/relationships/slide" Target="/ppt/slides/slide8.xml" Id="Rbc8ca0c5fc994790" /><Relationship Type="http://schemas.openxmlformats.org/officeDocument/2006/relationships/slide" Target="/ppt/slides/slide9.xml" Id="Rcf1f6a826999425a" /><Relationship Type="http://schemas.openxmlformats.org/officeDocument/2006/relationships/slide" Target="/ppt/slides/slide10.xml" Id="Rccfafbeb49914a52" /><Relationship Type="http://schemas.openxmlformats.org/officeDocument/2006/relationships/slide" Target="/ppt/slides/slide11.xml" Id="R89d6072cba2144aa" /><Relationship Type="http://schemas.openxmlformats.org/officeDocument/2006/relationships/slide" Target="/ppt/slides/slide12.xml" Id="R6ca03df908a64b02" /><Relationship Type="http://schemas.openxmlformats.org/officeDocument/2006/relationships/slide" Target="/ppt/slides/slide13.xml" Id="Red86b1a522e742f9" /><Relationship Type="http://schemas.openxmlformats.org/officeDocument/2006/relationships/slide" Target="/ppt/slides/slide14.xml" Id="Rda4f225984164c7f" /><Relationship Type="http://schemas.openxmlformats.org/officeDocument/2006/relationships/slide" Target="/ppt/slides/slide15.xml" Id="Rbe86cedaefff498d" /><Relationship Type="http://schemas.openxmlformats.org/officeDocument/2006/relationships/slide" Target="/ppt/slides/slide16.xml" Id="R4c7fd8c59dad42d7" /><Relationship Type="http://schemas.openxmlformats.org/officeDocument/2006/relationships/slide" Target="/ppt/slides/slide17.xml" Id="Rd3d3f8b6dfd643c7" /><Relationship Type="http://schemas.openxmlformats.org/officeDocument/2006/relationships/slide" Target="/ppt/slides/slide18.xml" Id="R32b8185739b34897" /><Relationship Type="http://schemas.openxmlformats.org/officeDocument/2006/relationships/slide" Target="/ppt/slides/slide19.xml" Id="Re5d1e58a655a4d3c" /><Relationship Type="http://schemas.openxmlformats.org/officeDocument/2006/relationships/slide" Target="/ppt/slides/slide20.xml" Id="Rb140bc117b2c4a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b5bbc99a454c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5340ce385c4f64" /><Relationship Type="http://schemas.openxmlformats.org/officeDocument/2006/relationships/notesMaster" Target="/ppt/notesMasters/notesMaster1.xml" Id="R888d7d25a77a4f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cc85db07ef4a0a" /><Relationship Type="http://schemas.openxmlformats.org/officeDocument/2006/relationships/notesMaster" Target="/ppt/notesMasters/notesMaster1.xml" Id="Rcd16e1e2496e4f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33eb639a274ae2" /><Relationship Type="http://schemas.openxmlformats.org/officeDocument/2006/relationships/notesMaster" Target="/ppt/notesMasters/notesMaster1.xml" Id="R67bbc61881074e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b7c406bd264d8d" /><Relationship Type="http://schemas.openxmlformats.org/officeDocument/2006/relationships/notesMaster" Target="/ppt/notesMasters/notesMaster1.xml" Id="R727e66e4724249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7199b32bc64b6d" /><Relationship Type="http://schemas.openxmlformats.org/officeDocument/2006/relationships/notesMaster" Target="/ppt/notesMasters/notesMaster1.xml" Id="R7d356eb4694d42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a55318badf4b88" /><Relationship Type="http://schemas.openxmlformats.org/officeDocument/2006/relationships/notesMaster" Target="/ppt/notesMasters/notesMaster1.xml" Id="Rf93fe010133c40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4ae775fd5a4124" /><Relationship Type="http://schemas.openxmlformats.org/officeDocument/2006/relationships/notesMaster" Target="/ppt/notesMasters/notesMaster1.xml" Id="R5e593b55f19047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74db8610624848" /><Relationship Type="http://schemas.openxmlformats.org/officeDocument/2006/relationships/notesMaster" Target="/ppt/notesMasters/notesMaster1.xml" Id="R87db5142c63041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fe905ddac54482" /><Relationship Type="http://schemas.openxmlformats.org/officeDocument/2006/relationships/notesMaster" Target="/ppt/notesMasters/notesMaster1.xml" Id="R25718f8b5d9647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728115a4584ad2" /><Relationship Type="http://schemas.openxmlformats.org/officeDocument/2006/relationships/notesMaster" Target="/ppt/notesMasters/notesMaster1.xml" Id="Rb54b3f0116b74a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f6045aca8b47c7" /><Relationship Type="http://schemas.openxmlformats.org/officeDocument/2006/relationships/notesMaster" Target="/ppt/notesMasters/notesMaster1.xml" Id="R8544270e74d64bf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589fe5c7d7c4570" /><Relationship Type="http://schemas.openxmlformats.org/officeDocument/2006/relationships/notesMaster" Target="/ppt/notesMasters/notesMaster1.xml" Id="Raeabf65cfb9b4d1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eb9da9f1764124" /><Relationship Type="http://schemas.openxmlformats.org/officeDocument/2006/relationships/notesMaster" Target="/ppt/notesMasters/notesMaster1.xml" Id="Rc1c159ad961f420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5bcb125f5974b43" /><Relationship Type="http://schemas.openxmlformats.org/officeDocument/2006/relationships/notesMaster" Target="/ppt/notesMasters/notesMaster1.xml" Id="R1f324027205640c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7e1d204c304435e" /><Relationship Type="http://schemas.openxmlformats.org/officeDocument/2006/relationships/notesMaster" Target="/ppt/notesMasters/notesMaster1.xml" Id="R503bde42c1f9432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5415501e9df4b5a" /><Relationship Type="http://schemas.openxmlformats.org/officeDocument/2006/relationships/notesMaster" Target="/ppt/notesMasters/notesMaster1.xml" Id="Rf0a0cff11c7946a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0a55880323a4dbd" /><Relationship Type="http://schemas.openxmlformats.org/officeDocument/2006/relationships/notesMaster" Target="/ppt/notesMasters/notesMaster1.xml" Id="R4606a1a6ab02445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62114b7d15746d4" /><Relationship Type="http://schemas.openxmlformats.org/officeDocument/2006/relationships/notesMaster" Target="/ppt/notesMasters/notesMaster1.xml" Id="R1ca631a03116423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fd47bd7932447c7" /><Relationship Type="http://schemas.openxmlformats.org/officeDocument/2006/relationships/notesMaster" Target="/ppt/notesMasters/notesMaster1.xml" Id="Rbc65cba31fba4d6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a936d2d42854895" /><Relationship Type="http://schemas.openxmlformats.org/officeDocument/2006/relationships/notesMaster" Target="/ppt/notesMasters/notesMaster1.xml" Id="R86db3f89260748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solução técnica está concluída: pipeline de dados, orquestração e dashboard. Esta reunião apresenta a entrega e alinha a redação do TCC. O título da capa é descritivo e pode ser ajustado ao título acadêmico definitivo.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Confirmação do autor em 30/09/2026; README.md; Dashboard/LEIA-ME.txt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trabalho integra dados públicos de saúde e meteorologia para permitir exploração de padrões de internação no tempo e no território. A contribuição implementada é uma solução de Engenharia de Dados, com rastreabilidade, qualidade e visualização. A pergunta exibida é uma formulação para alinhamento acadêmico, não um objetivo formal já aprovado. As análises do painel são descritivas e não demonstram causalidade.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README.md; docs/Relatorio_Implementacao_Camada_Consumo_Power_BI.md; Dashboard/Dash.Report/report.json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SIH foi extraído por competência, enquanto a camada de consumo filtra a data real de internação. Por isso, 8.409.047 registros da Gold e 8.236.990 internações do recorte analítico são números diferentes e coerentes. O INMET tem 40 estações. O IBGE representa os 645 municípios paulistas. Não chamar os registros de pacientes únicos.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docs/Relatorio_Status_Arquitetura_Pipeline_TCC.md; docs/Relatorio_Implementacao_Camada_Consumo_Power_BI.md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arquitetura Medallion separa preservação dos dados, padronização e integração. O Airflow executa as dependências e os controles de qualidade. Python e Spark fazem o processamento em Docker. A camada de consumo gera tabelas Parquet para o modelo Power BI. Ela recebe a Gold e complementos da Silver já validada. O desenho é lógico: a atualização do Power BI não é apresentada como uma task da DAG.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dags/tcc_pipeline.py; docker-compose.airflow.yaml; src/consumption/build.py; docs/Relatorio_Implementacao_Camada_Consumo_Power_BI.md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ambiente usa Docker Compose para organizar os serviços locais. O Airflow tem scheduler, API, processador de DAGs e worker Celery. PostgreSQL mantém metadados e Redis atua como fila. A DAG executa ingestão e DQ Bronze com PythonOperator e os processamentos Spark com SparkSubmitOperator. Os relatórios operacionais registram Spark em modo local[2], executado no ambiente do worker Airflow. O serviço Spark/JupyterLab separado atende exploração e testes. As pastas src e data são montadas nos contêineres, e o Power BI Desktop lê os Parquets de data/consumption por Power Query. A Bronze preserva arquivos brutos. Silver, Gold e consumo usam Parquet. O desenho representa componentes e conexões, sem afirmar atualização automática do Power BI pela DAG. A DAG salva usa schedule=None, com disparo sob demanda e dependências orquestradas.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docker-compose.yml; docker-compose.airflow.yaml; docker/Dockerfile; dags/tcc_pipeline.py; docs/Relatorio_Refatoracao_Spark_Airflow.md; docs/Relatorio_Resultados_Performance_Experimentos_1_2.md; Dashboard/Dash.SemanticModel/definition/tables/fato_municipio_dia.tmdl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Docker Compose organiza os contêineres e as montagens de pastas. Airflow representa o fluxo em uma DAG, controla dependências, tentativas e falhas e registra o acompanhamento. Python implementa ingestão e regras. Spark/PySpark executa transformações, joins, agregações e verificações sobre as tabelas. PostgreSQL e Redis apoiam a operação do Airflow. Os datasets analíticos estão em Parquet no sistema de arquivos. JupyterLab apoia desenvolvimento e exploração. Power Query importa os dados para o Power BI, o modelo semântico define relações e medidas DAX calculam os indicadores usados nas seis páginas.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docker-compose.yml; docker-compose.airflow.yaml; dags/tcc_pipeline.py; src/consumption/build.py; Dashboard/Dash.SemanticModel/definition/model.tmdl; Dashboard/Dash.SemanticModel/definition/tables/fato_municipio_dia.tmdl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com o percurso de um registro: o arquivo mensal chega à Bronze, a Silver padroniza campos e datas, a Gold enriquece a internação com município, diagnóstico e estação, e o consumo agrega para análise. O erro crítico de qualidade bloqueia o avanço. Avisos e métricas informativas preservam a visibilidade das limitações da fonte.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docs/Relatorio_Status_Arquitetura_Pipeline_TCC.md; docs/Relatorio_Implementacao_Camada_Consumo_Power_BI.md; dags/tcc_pipeline.py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Cada município recebe uma estação de referência por distância geográfica. A integração meteorológica usa a estação e a data de internação. Há 172.057 registros da Gold anteriores à janela meteorológica. Eles permanecem na Gold, mas ficam fora da camada de consumo filtrada para 2023–2025. Match de estação e dia não implica preenchimento de todas as variáveis. A distância entre município e estação é uma limitação de representatividade espacial.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docs/Relatorio_Status_Arquitetura_Pipeline_TCC.md; docs/Relatorio_Resultados_Performance_Experimentos_1_2.md; docs/Relatorio_Implementacao_Camada_Consumo_Power_BI.md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orquestração e a solução técnica estão concluídas, conforme confirmação do autor. As evidências quantitativas deste slide são históricas: o relatório de 11/09 registra 24 tasks bem-sucedidas em 33m25,611s, antes da inclusão das duas tasks de consumo documentada em 14/09. Não apresentar esse tempo como medição de toda a DAG atual. O consumo reconciliou seis métricas e passou em oito testes sintéticos.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docs/Relatorio_Resultados_Performance_Experimentos_1_2.md; docs/Relatorio_Implementacao_Camada_Consumo_Power_BI.md; confirmação do autor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fato municipal diária contém a meteorologia sem replicação por diagnóstico. A segunda fato detalha saúde por categoria CID, sexo e faixa etária. O modelo salvo liga tempo, município e estação à fato diária e esta à fato CID pela chave municipio_dia_id. A dimensão CID filtra a fato detalhada. Os totais das duas fatos não devem ser somados entre si. O diagrama omite tabelas auxiliares de apresentação e calendário automático.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Dashboard/Dash.SemanticModel/definition/relationships.tmdl; docs/Relatorio_Implementacao_Camada_Consumo_Power_BI.md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painel organiza a exploração em seis páginas, com cabeçalhos, filtros e cores consistentes. Na demonstração, começar pelo total e então detalhar temperatura, diagnósticos, defasagens, outras variáveis e território. Os slides seguintes descrevem os visuais do projeto salvo. Abrir o PBIP para a demonstração interativa.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Dashboard/LEIA-ME.txt; Dashboard/Dash.Report/report.json; confirmação do autor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página tem cartões de internações, óbitos, proporção de óbitos, permanência média e valor registrado, além da evolução mensal e rankings por município e capítulo CID. Os números no slide são os totais reconciliados documentados para o consumo completo, sem filtros adicionais. A proporção de óbitos é 422.557 dividido por 8.236.990, e a permanência média é 39.845.279 dividido pelo total de internações. Valores SIH não representam necessariamente o custo econômico completo. Não se trata de mortalidade populacional.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Dashboard/Dash.Report/report.json; Dashboard/Dash.SemanticModel/definition/tables/fato_municipio_dia.tmdl; docs/Relatorio_Implementacao_Camada_Consumo_Power_BI.md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página reúne série temporal mensal de internações e temperatura, média de internações por faixas térmicas e variação frio versus quente por município. Frio é temperatura média inferior a 20 graus e quente é média maior ou igual a 25. O denominador é a quantidade de município-dias observados, não população. A faixa de 20 a menos de 25 permanece na análise por faixas, mas não na comparação entre extremos. Não afirmar efeito causal ou resultado numérico sem registrar o filtro observado no painel.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Dashboard/Dash.Report/report.json; Dashboard/Dash.SemanticModel/definition/tables/fato_municipio_dia.tmdl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página passa da classificação ampla ao diagnóstico específico. Há comparações por capítulo, grupos respiratórios e categorias de infecções agudas das vias aéreas inferiores, além de médias frio versus calor por categoria. O objetivo da demonstração é evidenciar detalhamento e coerência dos filtros. Não escolher retrospectivamente somente as maiores variações como confirmação de uma hipótese. As comparações continuam descritivas.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Dashboard/Dash.Report/report.json; Dashboard/Dash.SemanticModel/definition/tables/fato_municipio_dia_cid.tmdl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lag consulta a temperatura da mesma estação em uma data civil exata, e não a linha anterior da tabela. As internações continuam no dia observado. As datas iniciais podem ter lags ausentes por falta de medições de dezembro de 2022. A página compara médias por condição térmica e variação relativa para o mesmo dia, um, três e sete dias antes. A defasagem de maior variação é descritiva, não prova de prazo de resposta biológica.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Dashboard/Dash.Report/report.json; Dashboard/Dash.SemanticModel/definition/tables/Defasagem.tmdl; docs/Relatorio_Implementacao_Camada_Consumo_Power_BI.md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página contém cinco gráficos de média de internações por município-dia observado. As faixas são definidas no modelo. Os limites numéricos de radiação, vento e pressão são fixos no modelo salvo, por isso a redação deve explicar a regra de construção. Precipitação é média dos totais diários quando agregada no painel. Radiação diária é soma das observações horárias válidas. Nenhum desses gráficos isoladamente estima efeito independente de uma variável.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Dashboard/Dash.Report/report.json; Dashboard/Dash.SemanticModel/definition/tables/fato_municipio_dia.tmdl; docs/Relatorio_Implementacao_Camada_Consumo_Power_BI.md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relatório salvo tem mapa Azure Maps com coordenadas municipais, variação entre frio e calor e detalhes em tooltip, além de ranking Top 10. A leitura deve considerar os denominadores e a representatividade da estação. Há uma medida de amostra mínima de 30 município-dias em cada condição, cuja aplicação a cada visual deve ser documentada na redação. Comparação de médias brutas não é taxa populacional. O slide descreve a funcionalidade sem afirmar municípios líderes ou valores que não foram capturados do painel.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Dashboard/Dash.Report/report.json; Dashboard/Dash.SemanticModel/definition/tables/fato_municipio_dia.tmdl; docs/Relatorio_Status_Arquitetura_Pipeline_TCC.md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conclusão técnica é a confirmação atual do autor, e não uma previsão baseada no README antigo. A escrita deve descrever o que existe, organizar evidências e delimitar o alcance das análises. A pergunta final, os limites térmicos, o recorte e o peso relativo da contribuição de Engenharia de Dados devem ser alinhados com a orientadora. Não há neste material uma proposta de novo ciclo obrigatório de desenvolvimento.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Confirmação do autor em 30/09/2026; relatórios locais; Dashboard/Dash.Report/report.json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de estrutura para discutir com a orientadora. Introdução: problema, objetivo e recorte. Fundamentação: engenharia de dados, arquitetura Medallion, qualidade e visualização, além da literatura pertinente à relação saúde e meteorologia. Metodologia: fontes, critérios, unidade de análise, integração, faixas e defasagens. Desenvolvimento: arquitetura implementada e dashboard. Resultados: evidências operacionais e análises com filtros registrados. Conclusão: contribuição, limitações e possíveis extensões.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Proposta de redação elaborada a partir da solução implementada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Encerrar a reunião com decisões que destravem a escrita: formulação definitiva do objetivo, peso de arquitetura versus análise, escolha das figuras e resultados, estrutura dos capítulos e prazo de entrega por parte. Reforçar que a solução técnica está concluída. As limitações metodológicas entram na discussão e não anulam a entrega de Engenharia de Dados.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Proposta de pauta para orientação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33b5a7b88440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3d43516ec74866" /><Relationship Type="http://schemas.openxmlformats.org/officeDocument/2006/relationships/slideLayout" Target="/ppt/slideLayouts/slideLayout1.xml" Id="R552a947ad4e84a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2a947ad4e84a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af1a182994d44" /><Relationship Type="http://schemas.openxmlformats.org/officeDocument/2006/relationships/notesSlide" Target="/ppt/notesSlides/notesSlide1.xml" Id="R75e3157058da48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3fa3182594d89" /><Relationship Type="http://schemas.openxmlformats.org/officeDocument/2006/relationships/notesSlide" Target="/ppt/notesSlides/notesSlide2.xml" Id="Rb8ae62bb1c0d4e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3196fc80f44d9a" /><Relationship Type="http://schemas.openxmlformats.org/officeDocument/2006/relationships/notesSlide" Target="/ppt/notesSlides/notesSlide3.xml" Id="Re1a1eebc7d6847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32e692fee4a91" /><Relationship Type="http://schemas.openxmlformats.org/officeDocument/2006/relationships/notesSlide" Target="/ppt/notesSlides/notesSlide4.xml" Id="Raf8a775ecd2741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f56b0bf244be2" /><Relationship Type="http://schemas.openxmlformats.org/officeDocument/2006/relationships/notesSlide" Target="/ppt/notesSlides/notesSlide5.xml" Id="R31b4ddc56fc245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3aea81d107407a" /><Relationship Type="http://schemas.openxmlformats.org/officeDocument/2006/relationships/notesSlide" Target="/ppt/notesSlides/notesSlide6.xml" Id="Re527854c49754c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9e970e6b44da8" /><Relationship Type="http://schemas.openxmlformats.org/officeDocument/2006/relationships/notesSlide" Target="/ppt/notesSlides/notesSlide7.xml" Id="Rd45efc03750f4e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562c88699e4b92" /><Relationship Type="http://schemas.openxmlformats.org/officeDocument/2006/relationships/notesSlide" Target="/ppt/notesSlides/notesSlide8.xml" Id="R5d4a6166587546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46efb63164de8" /><Relationship Type="http://schemas.openxmlformats.org/officeDocument/2006/relationships/notesSlide" Target="/ppt/notesSlides/notesSlide9.xml" Id="R917de7ca71fc42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1fac5ab744c97" /><Relationship Type="http://schemas.openxmlformats.org/officeDocument/2006/relationships/notesSlide" Target="/ppt/notesSlides/notesSlide10.xml" Id="R589eb21bb0bd4a2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5ae2c72cb475c" /><Relationship Type="http://schemas.openxmlformats.org/officeDocument/2006/relationships/notesSlide" Target="/ppt/notesSlides/notesSlide11.xml" Id="R7865eb5e892c4be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02bcd261d4cf4" /><Relationship Type="http://schemas.openxmlformats.org/officeDocument/2006/relationships/notesSlide" Target="/ppt/notesSlides/notesSlide12.xml" Id="R40a72d19ccca415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a5d75171e45b7" /><Relationship Type="http://schemas.openxmlformats.org/officeDocument/2006/relationships/notesSlide" Target="/ppt/notesSlides/notesSlide13.xml" Id="R9c5f5904f9ad45c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74744bdfa45c8" /><Relationship Type="http://schemas.openxmlformats.org/officeDocument/2006/relationships/notesSlide" Target="/ppt/notesSlides/notesSlide14.xml" Id="R4d8866967b024ec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b91a455624630" /><Relationship Type="http://schemas.openxmlformats.org/officeDocument/2006/relationships/notesSlide" Target="/ppt/notesSlides/notesSlide15.xml" Id="R5093a5eb2a7d46f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85dd3df004677" /><Relationship Type="http://schemas.openxmlformats.org/officeDocument/2006/relationships/notesSlide" Target="/ppt/notesSlides/notesSlide16.xml" Id="R60acb517833a4fd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69dc0a3a642be" /><Relationship Type="http://schemas.openxmlformats.org/officeDocument/2006/relationships/notesSlide" Target="/ppt/notesSlides/notesSlide17.xml" Id="R5bc8433fc7ac440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aad6294f84bbd" /><Relationship Type="http://schemas.openxmlformats.org/officeDocument/2006/relationships/notesSlide" Target="/ppt/notesSlides/notesSlide18.xml" Id="R027350026cce41b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665309bf64650" /><Relationship Type="http://schemas.openxmlformats.org/officeDocument/2006/relationships/notesSlide" Target="/ppt/notesSlides/notesSlide19.xml" Id="R5302195eac874ad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5cd988a114792" /><Relationship Type="http://schemas.openxmlformats.org/officeDocument/2006/relationships/notesSlide" Target="/ppt/notesSlides/notesSlide20.xml" Id="Rab7fd593d64144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69E40B-8126-4814-A38F-90F84F4F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5CACE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95CACE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8D510-C79F-46F5-AAF4-BDB9AD6A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95CACE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95CACE"/>
                </a:solidFill>
                <a:latin typeface="Segoe UI"/>
                <a:ea typeface="Segoe UI"/>
                <a:cs typeface="Segoe UI"/>
              </a:rPr>
              <a:t>TCC  /  REUNIÃO DE ORIENTAÇÃO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ACA9E-93F3-4573-AF88-D59DC9F9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10858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7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Saúde e clima</a:t>
            </a:r>
          </a:p>
          <a:p xmlns:a="http://schemas.openxmlformats.org/drawingml/2006/main">
            <a:pPr>
              <a:defRPr sz="4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7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no estado de São Paulo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9CA77-FF8A-4ED1-8CF5-C015F7F7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909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D0DCE8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D0DCE8"/>
                </a:solidFill>
                <a:latin typeface="Segoe UI"/>
                <a:ea typeface="Segoe UI"/>
                <a:cs typeface="Segoe UI"/>
              </a:rPr>
              <a:t>Pipeline de dados e dashboard analítico</a:t>
            </a:r>
          </a:p>
          <a:p xmlns:a="http://schemas.openxmlformats.org/drawingml/2006/main">
            <a:pPr>
              <a:defRPr sz="2325" b="0">
                <a:solidFill>
                  <a:srgbClr val="D0DCE8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D0DCE8"/>
                </a:solidFill>
                <a:latin typeface="Segoe UI"/>
                <a:ea typeface="Segoe UI"/>
                <a:cs typeface="Segoe UI"/>
              </a:rPr>
              <a:t>Internações hospitalares de 2023 a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57AA3-3F75-4DAE-8AB6-679755CE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5CACE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95CACE"/>
                </a:solidFill>
                <a:latin typeface="Segoe UI"/>
                <a:ea typeface="Segoe UI"/>
                <a:cs typeface="Segoe UI"/>
              </a:rPr>
              <a:t>Guilherme</a:t>
            </a:r>
          </a:p>
          <a:p xmlns:a="http://schemas.openxmlformats.org/drawingml/2006/main">
            <a:pPr>
              <a:defRPr sz="1800" b="0">
                <a:solidFill>
                  <a:srgbClr val="95CACE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95CACE"/>
                </a:solidFill>
                <a:latin typeface="Segoe UI"/>
                <a:ea typeface="Segoe UI"/>
                <a:cs typeface="Segoe UI"/>
              </a:rPr>
              <a:t>30 de setembro de 2026</a:t>
            </a:r>
          </a:p>
        </p:txBody>
      </p:sp>
    </p:spTree>
    <p:extLst>
      <p:ext uri="{BB962C8B-B14F-4D97-AF65-F5344CB8AC3E}">
        <p14:creationId xmlns:p14="http://schemas.microsoft.com/office/powerpoint/2010/main" val="20707512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02846-5BAA-4DB3-A612-D9D529AE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Tema e objetivo do trabalho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54375B-E2CA-4289-AED3-4CE7DCD5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40B1B-0C81-458A-9255-52D4DBF3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715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Integração de internações hospitalares e condições meteorológicas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7D0FB-6DDE-4512-ABF2-6B1AF8A3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Objetivo da solução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B3B8A-349B-402A-BA2F-60A503B2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504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Organizar fontes heterogêneas em uma base analítica e disponibilizar sua exploração no Power BI.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58239-B8A8-4989-8F6A-6BA9D459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Recorte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2C7CE-6894-45E3-9BDD-2E2A28DF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514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Estado de São Paulo. Internações com data entre janeiro de 2023 e dezembro de 2025.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920DA-6C57-44EA-AEB8-F92C2937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81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Pergunta para a redação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834C70-8DE3-4958-A141-DDF43AFE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810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Como integrar esses dados e explorar padrões de internação associados às condições meteorológicas?</a:t>
            </a:r>
          </a:p>
        </p:txBody>
      </p:sp>
    </p:spTree>
    <p:extLst>
      <p:ext uri="{BB962C8B-B14F-4D97-AF65-F5344CB8AC3E}">
        <p14:creationId xmlns:p14="http://schemas.microsoft.com/office/powerpoint/2010/main" val="12899310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8765B3-0874-4F7A-85B0-C8BB22D7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Fontes e dimensão da entrega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B8DDF-1354-4EE3-A9A9-490325F0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9728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429125"/>
                <a:gridCol w="4210050"/>
              </a:tblGrid>
              <a:tr h="67437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Fonte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Conteúdo integrado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Dimensão documentada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SIH / DATASUS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Registros de internações hospitalares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8.409.047 registros na Gold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INMET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Observações meteorológicas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40 estações e 43.840 estação-dias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IBGE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Municípios e informação geográfica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645 municípios de São Paulo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CID-10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Classificação dos diagnósticos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1.658 categorias no consumo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2AD0E-AA16-4F99-9B42-9300407B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86375"/>
            <a:ext cx="3190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3825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8.236.990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C43AD-799E-4833-AB11-EE2A5E3C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3400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internações no recorte por data de internação (2023–2025)</a:t>
            </a:r>
          </a:p>
        </p:txBody>
      </p:sp>
    </p:spTree>
    <p:extLst>
      <p:ext uri="{BB962C8B-B14F-4D97-AF65-F5344CB8AC3E}">
        <p14:creationId xmlns:p14="http://schemas.microsoft.com/office/powerpoint/2010/main" val="10882567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CD47FF-0E3F-403F-ADDB-5FC5A68E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Arquitetura da solução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74277-4AEA-43C6-B570-753380AA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0F57C-FDEA-4416-8F6D-9D5DB7B8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638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Fontes</a:t>
            </a:r>
          </a:p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públicas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5AB48-1357-47CB-90B4-652E409B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505075"/>
            <a:ext cx="1638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Bronze</a:t>
            </a:r>
          </a:p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Brutos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DCED1-BE2F-4C3B-AF01-1F7077B5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05075"/>
            <a:ext cx="1638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Silver</a:t>
            </a:r>
          </a:p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Tratados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93E96E-5CF1-4FAD-827D-12EE62B6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505075"/>
            <a:ext cx="1638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Gold</a:t>
            </a:r>
          </a:p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Integrados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E3C3DE-E43F-4324-B6BA-67AC5E19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05075"/>
            <a:ext cx="1638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Consumo</a:t>
            </a:r>
          </a:p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Analítico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691CA-5813-49C0-8A3F-42551643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505075"/>
            <a:ext cx="1638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Power BI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Dashboard</a:t>
            </a:r>
          </a:p>
        </p:txBody>
      </p:sp>
      <p:cxnSp>
        <p:nvCxnSpPr>
          <p:cNvPr id="26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247900" y="3019425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105275" y="3019425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62650" y="3019425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820025" y="3019425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677400" y="3019425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379C11-1803-4F96-B267-03A5B601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676400"/>
            <a:ext cx="7181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Airflow: dependências, execução e acompanhamento do pipeline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B7F27E-4DAF-4C1D-BE4F-B514D18D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905250"/>
            <a:ext cx="723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Qualidade após cada camada de dados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EEC332-F025-4DAA-ACF9-17501DD4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81525"/>
            <a:ext cx="8934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Python e Apache Spark em Docker</a:t>
            </a:r>
          </a:p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Persistência em arquivos Parquet nas camadas tratadas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726C59-C9A7-4D54-BC3D-20F36165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A camada de consumo também utiliza dados complementares da Silver aprovada.</a:t>
            </a:r>
          </a:p>
        </p:txBody>
      </p:sp>
    </p:spTree>
    <p:extLst>
      <p:ext uri="{BB962C8B-B14F-4D97-AF65-F5344CB8AC3E}">
        <p14:creationId xmlns:p14="http://schemas.microsoft.com/office/powerpoint/2010/main" val="3637499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97509B-8321-47E7-8890-5E70D462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Arquitetura tecnológica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87C65-481A-40E3-9B4B-14DEF5DB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C2EA8-F939-4659-992B-F5CAC588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7753350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5EA55-A0D6-4DA0-8725-DF0B90BE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720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Docker Compose: ambiente local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C2054-A2E2-4021-A862-DF7C3E57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25908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Apache Airflow</a:t>
            </a:r>
          </a:p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DAG e dependências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77616-CC07-4426-9C9D-E252A3CB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52700"/>
            <a:ext cx="38100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Worker Airflow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Python + Spark / PySpark</a:t>
            </a:r>
          </a:p>
        </p:txBody>
      </p:sp>
      <p:cxnSp>
        <p:nvCxnSpPr>
          <p:cNvPr id="2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429000" y="304323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96C07E-A51B-4DE8-B9A9-104C9FA0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Aciona as tarefas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E311BC-5DD4-445D-B80C-E91CB8CD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505075"/>
            <a:ext cx="25527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Arquivos locais</a:t>
            </a:r>
          </a:p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Brutos + Parquet</a:t>
            </a:r>
          </a:p>
        </p:txBody>
      </p:sp>
      <p:cxnSp>
        <p:nvCxnSpPr>
          <p:cNvPr id="28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096250" y="3043238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1CF2FD-5E6F-4809-B87A-4B574452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75260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Pastas locais</a:t>
            </a:r>
          </a:p>
          <a:p xmlns:a="http://schemas.openxmlformats.org/drawingml/2006/main">
            <a:pPr>
              <a:defRPr sz="172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compartilhadas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FB1AD4-3C68-4E97-A0CF-4741D0E2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591050"/>
            <a:ext cx="25527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Power BI Desktop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Modelo e dashboard</a:t>
            </a:r>
          </a:p>
        </p:txBody>
      </p:sp>
      <p:cxnSp>
        <p:nvCxnSpPr>
          <p:cNvPr id="31" name="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0296525" y="3581400"/>
            <a:ext cx="0" cy="1009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25B7F0-9908-41B0-8B26-9AEB4260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2590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PostgreSQL</a:t>
            </a:r>
          </a:p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Metadados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B4BC19-BDF8-4925-9B65-53042BE1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419600"/>
            <a:ext cx="1733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Redis</a:t>
            </a:r>
          </a:p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Fila Celery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D908C3-45AD-418F-A008-40D9EE1A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19600"/>
            <a:ext cx="2400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JupyterLab</a:t>
            </a:r>
          </a:p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Exploração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E68591-2880-4ACE-9F52-ED277C3A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95725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Serviços de apoio e ambiente de desenvolvimento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4604B3-4CFA-417A-95E6-BE229A8B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Spark executa os jobs no ambiente local. Power BI importa os Parquets da camada de consumo.</a:t>
            </a:r>
          </a:p>
        </p:txBody>
      </p:sp>
    </p:spTree>
    <p:extLst>
      <p:ext uri="{BB962C8B-B14F-4D97-AF65-F5344CB8AC3E}">
        <p14:creationId xmlns:p14="http://schemas.microsoft.com/office/powerpoint/2010/main" val="1682600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270C2-5EE3-491A-B156-3C10D262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Função de cada tecnologia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24E87-E305-4FEB-83A6-F5AE70CE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71875"/>
                <a:gridCol w="7400925"/>
              </a:tblGrid>
              <a:tr h="523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Tecnologia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Responsabilidade no projeto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Docker Compose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Organiza contêineres, dependências e pastas compartilhadas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Apache Airflow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Coordena tarefas, dependências, tentativas e falhas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Python + Spark / PySpark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Ingestão, transformações, joins, agregações e qualidade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PostgreSQL + Redis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Metadados do Airflow e fila de execução das tarefas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Parquet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Armazena tabelas tratadas e dados para consumo analítico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JupyterLab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Apoia exploração dos dados e testes de desenvolvimento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Power BI + Power Query + DAX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Importa dados, relaciona tabelas e apresenta indicadores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47326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B8F87-7144-4FBE-9394-185C5236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O papel de cada camada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F50EF-1BB3-4921-96DE-4EEB35E9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3695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4619625"/>
                <a:gridCol w="4448175"/>
              </a:tblGrid>
              <a:tr h="7391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Camada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Responsabilidade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Controle de qualidade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Bronze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Preserva os arquivos recebidos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Chegada, integridade e legibilidade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Silver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Limpa, tipa e padroniza os dados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Tipos, chaves, domínios e períodos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Gold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Integra internação e meteorologia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Joins, cardinalidade e cobertura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Consumo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Agrega fatos e prepara dimensões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Reconciliação dos totais e lags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94686F-8129-4EED-9558-A650CB92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Falhas críticas interrompem o fluxo. Avisos e métricas informativas ficam registrados.</a:t>
            </a:r>
          </a:p>
        </p:txBody>
      </p:sp>
    </p:spTree>
    <p:extLst>
      <p:ext uri="{BB962C8B-B14F-4D97-AF65-F5344CB8AC3E}">
        <p14:creationId xmlns:p14="http://schemas.microsoft.com/office/powerpoint/2010/main" val="10066988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56DF8A-AAF3-4316-A739-BE07001A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Integração de saúde e meteorologia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BCA6EA-6AA4-482F-B6BF-EB4A8CFE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707079-02DD-4050-A2B0-863481BB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282892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Município</a:t>
            </a:r>
          </a:p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de referência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E7E0C-666A-4335-A33C-AA3788ED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38325"/>
            <a:ext cx="28575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Estação INMET</a:t>
            </a:r>
          </a:p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selecionada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E58CD-9A5A-4570-82B3-552E0055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838325"/>
            <a:ext cx="29337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Meteorologia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do dia da internação</a:t>
            </a:r>
          </a:p>
        </p:txBody>
      </p:sp>
      <p:cxnSp>
        <p:nvCxnSpPr>
          <p:cNvPr id="18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438525" y="2366963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86650" y="2366963"/>
            <a:ext cx="1162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81A6B7-9227-41DC-ABDE-7CEC3D0C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Vínculo espacial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49479-7585-4F1D-9624-90BDB10D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645 municípios associados a 40 estações. Distância média documentada: 34,29 km.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D1CE4B-6F8D-4A16-B54A-BC1A1E52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2425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Vínculo temporal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D6AD1F-CC18-42DF-8073-4A6D505E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19550"/>
            <a:ext cx="5095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A data da internação determina o encontro com a observação diária da estação.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CA81AB-CE87-4AFC-B94B-08F89F54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A competência do arquivo SIH e a data de internação têm funções diferentes no projeto.</a:t>
            </a:r>
          </a:p>
        </p:txBody>
      </p:sp>
    </p:spTree>
    <p:extLst>
      <p:ext uri="{BB962C8B-B14F-4D97-AF65-F5344CB8AC3E}">
        <p14:creationId xmlns:p14="http://schemas.microsoft.com/office/powerpoint/2010/main" val="18689439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749D0-6696-4F63-838C-22FA2D96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Orquestração e evidências de qualidade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4A57A-A557-4C69-AEBC-AE23DAC1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A2ED7-E2F5-423A-87F1-65FB3B4E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Airflow concluído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E79440-AD3E-4165-B6D1-29AEF3C8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Dependências entre camadas, execução dos processamentos e bloqueio em falhas críticas.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58688-762B-4D1F-A544-35253CC1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9545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Consumo validado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FE238-FE7B-4E7F-91EE-1246BC6B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90750"/>
            <a:ext cx="5095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Totais reconciliados com a Gold. Sem duplicidades nas chaves das duas fatos.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5DA86-07F5-44FF-9C1C-168BE066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4191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4575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33min26s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70605F-D6C8-4AB8-AE36-85B8FB93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768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execução documentada até a Gold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32EF38-07EA-4D53-A25C-6D6E2D3D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00500"/>
            <a:ext cx="4381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4575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8 testes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C2EC44-E369-46B8-9F33-06562457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8768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sintéticos aprovados na camada de consumo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E32888-AA1B-4C4D-B356-05CF2CCD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Medições históricas de setembro. O tempo acima antecede a inclusão do consumo na DAG.</a:t>
            </a:r>
          </a:p>
        </p:txBody>
      </p:sp>
    </p:spTree>
    <p:extLst>
      <p:ext uri="{BB962C8B-B14F-4D97-AF65-F5344CB8AC3E}">
        <p14:creationId xmlns:p14="http://schemas.microsoft.com/office/powerpoint/2010/main" val="15361147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0C6D06-A969-45F5-A34C-9ADACE75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Modelo analítico do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932CE-5404-4D3D-858A-F1A4E4B8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8CE57-8B56-4CC3-B6B4-48E891A7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21907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Tempo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09408-7EBE-4CA0-A099-3CC12D26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21907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Município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EADB3-6FB8-4252-9464-24664018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21907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Estação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E8C3D-71C7-415C-A331-20B62915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90800"/>
            <a:ext cx="342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Fato município-dia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578.832 linhas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Saúde + meteorologia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8EE4A-7898-4F8F-BACE-74C16489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590800"/>
            <a:ext cx="29813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Fato município-dia-CID</a:t>
            </a:r>
          </a:p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6.597.066 linhas</a:t>
            </a:r>
          </a:p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Saúde por perfil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BBFDC-85F3-4224-8E08-75F9C31C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704975"/>
            <a:ext cx="29813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Diagnóstico CID-10</a:t>
            </a:r>
          </a:p>
        </p:txBody>
      </p:sp>
      <p:cxnSp>
        <p:nvCxnSpPr>
          <p:cNvPr id="25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00350" y="2024063"/>
            <a:ext cx="1200150" cy="12430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26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00350" y="3167063"/>
            <a:ext cx="1200150" cy="1000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800350" y="3267075"/>
            <a:ext cx="1200150" cy="10429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429500" y="3267075"/>
            <a:ext cx="1171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8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0091738" y="232410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81A68C-570A-4098-AD51-DB7D50E5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2435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Uma linha por município e dia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7B266A-0F46-4140-88DF-ED9D0C6B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24350"/>
            <a:ext cx="29813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Detalhe por diagnóstico,</a:t>
            </a:r>
          </a:p>
          <a:p xmlns:a="http://schemas.openxmlformats.org/drawingml/2006/main">
            <a:pPr>
              <a:defRPr sz="187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sexo e faixa etária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AD0ED1-FECA-4D6F-98D5-1D29DF71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Duas granularidades complementares, com os mesmos totais de saúde reconciliados.</a:t>
            </a:r>
          </a:p>
        </p:txBody>
      </p:sp>
    </p:spTree>
    <p:extLst>
      <p:ext uri="{BB962C8B-B14F-4D97-AF65-F5344CB8AC3E}">
        <p14:creationId xmlns:p14="http://schemas.microsoft.com/office/powerpoint/2010/main" val="2154870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12F110-90F1-42AB-BE2E-B771E6B6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Dashboard concluído: seis páginas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F0C69-8425-4D88-878B-E0425A05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5E41EA-3373-48EF-9ED1-CADD3360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EC10B-461A-4F2B-B0D6-F023D039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192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Visão geral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B7AB9B-209D-4BEE-8367-2E38FC4F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619250"/>
            <a:ext cx="535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Volume, desfechos e valores registrados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17398-F8F2-44C2-899B-1905BB3B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0F3EE9-F371-4785-9564-99E62332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3050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Meteorologia × internações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9134CE-3E47-42D0-A6EE-0B223F3D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305050"/>
            <a:ext cx="535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Evolução temporal e faixas de temperatura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8A858-2CCF-40BA-ACA7-21B6A2B2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404D82-080A-4B3B-BD97-8B6C43D8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908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CID × temperatura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792A9A-02F5-4216-9B7B-4732EC15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990850"/>
            <a:ext cx="535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Capítulos, grupos e categorias diagnósticas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679CB9-8B60-4550-8AFF-7A6AF7A1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3BC97B-0B2A-4328-A83C-97D76AF5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766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Defasagem da temperatura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F4F3B0-11BC-4FA5-831C-6A97D04A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676650"/>
            <a:ext cx="535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Mesmo dia e 1, 3 e 7 dias anteriores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32905D-AA99-459E-9034-7DB14E4F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CFEF27-78A8-4F99-9E78-75975EB3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624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Outras variáveis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6B762B-DF5B-45C3-8931-43BC945A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362450"/>
            <a:ext cx="535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Umidade, chuva, radiação, vento e pressão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155E3C-9472-45A9-83D2-0DFA8DBD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98BBCE-2D19-4D2E-B34B-DCAA5207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482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Análise territorial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B99E9E-8A21-450F-8B25-E497BDB7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048250"/>
            <a:ext cx="535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Mapa municipal e comparação entre municípios</a:t>
            </a:r>
          </a:p>
        </p:txBody>
      </p:sp>
    </p:spTree>
    <p:extLst>
      <p:ext uri="{BB962C8B-B14F-4D97-AF65-F5344CB8AC3E}">
        <p14:creationId xmlns:p14="http://schemas.microsoft.com/office/powerpoint/2010/main" val="7711646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1C3D14-AE4E-492E-98B8-5ECBD482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01  Visão geral das internações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0DB4F-22B2-4338-9694-4FED0986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F4DE6-3724-494E-A771-514A73FA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51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8.236.990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6DA3F-C02A-45DC-83E7-1E1CE4B1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14625"/>
            <a:ext cx="600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internações no recorte analítico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CA04E-718F-4B02-9C3C-BE8D88A0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743075"/>
            <a:ext cx="4457700" cy="2124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422.557 óbitos nas internações</a:t>
            </a:r>
          </a:p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5,13% de óbitos / internações</a:t>
            </a:r>
          </a:p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4,84 dias de permanência média</a:t>
            </a:r>
          </a:p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R$ 14,39 bilhões registrados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50582-9FE2-429F-90A3-257B855F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Visuais da página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1F12D-C783-45E8-8B53-16CCFD85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504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Evolução mensal, municípios com mais internações e distribuição por capítulo CID-10.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E161B6-EC58-4730-A8B1-A19120B1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00500"/>
            <a:ext cx="5133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Na demonstração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0305DD-C5CA-4DF6-BD17-E9E55FC9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95800"/>
            <a:ext cx="51339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Aplicar ano, mês e município para mostrar como os indicadores respondem ao recorte.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6C64C9-C6DD-440F-B842-403A95D7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Totais documentados da camada de consumo. Proporções calculadas sobre as internações.</a:t>
            </a:r>
          </a:p>
        </p:txBody>
      </p:sp>
    </p:spTree>
    <p:extLst>
      <p:ext uri="{BB962C8B-B14F-4D97-AF65-F5344CB8AC3E}">
        <p14:creationId xmlns:p14="http://schemas.microsoft.com/office/powerpoint/2010/main" val="8126397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1029F4-30D3-448E-81EE-4D987E8A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02  Temperatura e internações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607750-EF85-4E9F-BEE6-5A2B5BCA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95ABD-B911-4D44-9F16-C980E67A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095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357AB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357ABD"/>
                </a:solidFill>
                <a:latin typeface="Segoe UI"/>
                <a:ea typeface="Segoe UI"/>
                <a:cs typeface="Segoe UI"/>
              </a:rPr>
              <a:t>Frio &lt; 20 °C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54401-AC22-47E4-8557-81543F3F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685925"/>
            <a:ext cx="5095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D9823B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D9823B"/>
                </a:solidFill>
                <a:latin typeface="Segoe UI"/>
                <a:ea typeface="Segoe UI"/>
                <a:cs typeface="Segoe UI"/>
              </a:rPr>
              <a:t>Quente ≥ 25 °C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0C3BE8-364A-4E6C-AE3B-339A1B9C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9632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Média de internações = internações ÷ município-dias observados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57946-9FBD-4394-A270-80A6FD53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Leitura temporal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9C84EE-A47C-4AE6-AE09-A02493F5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504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Comparação mensal entre volume de internações e temperatura média de 2023 a 2025.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8B150-41F0-4189-B91A-FFBD1DD2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933825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Comparação dos recortes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B47C8-D203-4BFD-B79A-DAA1C722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429125"/>
            <a:ext cx="5095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Médias por faixa de temperatura e variação relativa entre condições frias e quentes.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B57C10-4D8F-4189-8A2A-B0D05994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Os limiares são escolhas analíticas do dashboard e devem ser justificados na metodologia.</a:t>
            </a:r>
          </a:p>
        </p:txBody>
      </p:sp>
    </p:spTree>
    <p:extLst>
      <p:ext uri="{BB962C8B-B14F-4D97-AF65-F5344CB8AC3E}">
        <p14:creationId xmlns:p14="http://schemas.microsoft.com/office/powerpoint/2010/main" val="460567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8B6B9C-E62C-4D65-B76E-6FBAAE37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03  Diagnósticos e temperatura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3C929-481F-4CC0-A452-1BDADC47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23C93-E3BB-45D6-A4EA-4592C35A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328612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Capítulo CID-10</a:t>
            </a:r>
          </a:p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Panorama dos diagnósticos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ECF72-2D19-4DA1-85FB-4C38C624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76425"/>
            <a:ext cx="328612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Grupo</a:t>
            </a:r>
          </a:p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Doenças respiratórias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9CE9F-C96B-40C1-AB0B-A8B6F263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876425"/>
            <a:ext cx="330517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Categoria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Diagnóstico específico</a:t>
            </a:r>
          </a:p>
        </p:txBody>
      </p:sp>
      <p:cxnSp>
        <p:nvCxnSpPr>
          <p:cNvPr id="18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895725" y="2433638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724775" y="2433638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25AE1-AF46-42A3-9F0B-BE5D2071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O que a página mostra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385BC0-525B-4D22-93C5-FD91B54A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5095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Variação entre dias frios e quentes em diferentes níveis da classificação CID-10.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C4CC72-F864-4E02-81F3-77614F8B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676650"/>
            <a:ext cx="510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Na demonstração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177731-E967-47BD-A5BC-C40B3521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171950"/>
            <a:ext cx="5105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Manter o mesmo ano e município e acompanhar a mudança do capítulo até a categoria.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8820B8-8DCC-43E4-BC29-6F1EDD05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O detalhamento utiliza a fato por CID, sem duplicar a meteorologia a cada diagnóstico.</a:t>
            </a:r>
          </a:p>
        </p:txBody>
      </p:sp>
    </p:spTree>
    <p:extLst>
      <p:ext uri="{BB962C8B-B14F-4D97-AF65-F5344CB8AC3E}">
        <p14:creationId xmlns:p14="http://schemas.microsoft.com/office/powerpoint/2010/main" val="13078668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46F7E4-25C9-452D-872B-3D87B6F5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04  Defasagem da temperatura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A8DB2-0484-47E7-BB6B-9A42E00E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93FC89-CCDD-4E3B-A19C-CD93AF54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Internações do dia observado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96157C-ED47-4F40-A077-3E5DCCF6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Mesmo dia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0202B0-2EC5-4A76-9349-5EECEA2A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238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Temperatura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A9138-916D-4346-9F53-5FABB00C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33675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1 dia antes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B48B0-CC47-49AF-89E7-C4B666A3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67125"/>
            <a:ext cx="238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Temperatura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56CF8-E66B-4E69-B97B-61CCF811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33675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3 dias antes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2343E7-778D-497E-AE7D-CFB04C6A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67125"/>
            <a:ext cx="238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Temperatura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20811-0921-4ABA-9E7B-14401B0A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33675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7 dias antes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21CDE6-D477-4B42-96F2-3F8E7825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67125"/>
            <a:ext cx="238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Temperatura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80AC9A-3740-4CF7-9896-A1A1CA6C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Comparação das médias frio × calor e da variação relativa em cada defasagem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93D77D-F34C-4F33-8B1B-B1C53074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Ausência de medição permanece nula. A data de internação não se desloca.</a:t>
            </a:r>
          </a:p>
        </p:txBody>
      </p:sp>
    </p:spTree>
    <p:extLst>
      <p:ext uri="{BB962C8B-B14F-4D97-AF65-F5344CB8AC3E}">
        <p14:creationId xmlns:p14="http://schemas.microsoft.com/office/powerpoint/2010/main" val="2035505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8502C-626F-4259-A058-AB9A641E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05  Outras variáveis meteorológicas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48CCF-9D92-4B7A-8428-E02DDDEA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781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57625"/>
                <a:gridCol w="7115175"/>
              </a:tblGrid>
              <a:tr h="6302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Variável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Exploração disponível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302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Umidade relativa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Comparação por faixas percentuais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  <a:tr h="6302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Precipitação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Dias sem chuva e faixas de volume diário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02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Radiação solar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Faixas de energia diária acumulada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  <a:tr h="6302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Vento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Faixas de velocidade média diária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02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Pressão atmosférica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Faixas da amplitude diária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AB799-A79B-490F-AAB7-BEE0E7D0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Indicador comum: média de internações por município-dia observado.</a:t>
            </a:r>
          </a:p>
        </p:txBody>
      </p:sp>
    </p:spTree>
    <p:extLst>
      <p:ext uri="{BB962C8B-B14F-4D97-AF65-F5344CB8AC3E}">
        <p14:creationId xmlns:p14="http://schemas.microsoft.com/office/powerpoint/2010/main" val="41455502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519B3-F2A5-4E02-9342-87E16F3B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06  Análise territorial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85D07-A353-4B70-94B5-E46C6E0E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9E8F4-270D-4581-9582-3D94ECFC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A dimensão municipal organiza a leitura espacial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C134E-8868-43AA-B554-EC55A01B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5019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Mapa municipal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3B3DB-C73F-450C-9FC5-6A009F51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50196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Localização dos municípios e variação entre médias de internação em dias frios e quentes.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70D37-33FE-402F-9E93-EC429E8B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76575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Ranking e detalhes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4DF42-93B3-438C-948E-57E4468D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571875"/>
            <a:ext cx="5095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Top 10 da variação e informações de médias, diferença absoluta e amostra nos detalhes.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88BE15-FE6E-43C8-98F4-A09B51EF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Na demonstração: selecionar um município e explicar o indicador junto com seus denominadores.</a:t>
            </a:r>
          </a:p>
        </p:txBody>
      </p:sp>
    </p:spTree>
    <p:extLst>
      <p:ext uri="{BB962C8B-B14F-4D97-AF65-F5344CB8AC3E}">
        <p14:creationId xmlns:p14="http://schemas.microsoft.com/office/powerpoint/2010/main" val="20779204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A85E6A-AB86-4C58-8287-6A4489D7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Entrega concluída e foco na escrita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A57D0-1767-4E7B-BA58-F24EC393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78498-E723-44F5-9FB5-4944E1A9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06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Solução implementada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195F8-AA99-4D97-8825-23DFF6B7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067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Pipeline de dados, qualidade, orquestração e dashboard concluídos.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1E36FA-7698-469C-BC44-FFE4FFEF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695450"/>
            <a:ext cx="510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Etapa atual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410108-20AD-41E8-A65A-991C293C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190750"/>
            <a:ext cx="5105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Redação do TCC e organização das evidências da solução e das análises.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3848100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7448550"/>
              </a:tblGrid>
              <a:tr h="4714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Parte do TCC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Material já disponível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Metodologia e arquitetura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Fontes, camadas, critérios de integração e qualidade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Implementação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Pipeline, Airflow, modelo analítico e dashboard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Resultados e discussão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Segoe UI"/>
                          <a:ea typeface="Segoe UI"/>
                          <a:cs typeface="Segoe UI"/>
                        </a:rPr>
                        <a:t>Totais reconciliados, desempenho e seis páginas analíticas</a:t>
                      </a:r>
                    </a:p>
                  </a:txBody>
                  <a:tcPr marL="91440" marR="91440" marT="45720" marB="45720">
                    <a:solidFill>
                      <a:srgbClr val="EAF2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13649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E89732-544E-45FB-AB30-1917DD23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Organização proposta para o TCC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77863-8C95-49CC-903E-BCC84D6C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4ACB8-ED36-4A99-920D-70DD3010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70A14-FE80-4CCB-8E85-7F32441C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09725"/>
            <a:ext cx="4238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Introdução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8160B-0BC3-4F98-AB77-9E5380A5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09725"/>
            <a:ext cx="5524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Problema, objetivo, justificativa e recorte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B70BE7-938B-4F96-AE7A-5C7615C4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7B9E0-D051-4A34-ABD5-67CC61B9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05050"/>
            <a:ext cx="4238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Fundamentação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DE4F0E-693E-41AE-92C8-03A773E7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05050"/>
            <a:ext cx="5524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Engenharia de dados, qualidade e saúde/clima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BF300-5CE8-4AF4-8000-06B93065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ED8CDD-7A6F-4F0B-BC26-69E4D0B4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00375"/>
            <a:ext cx="4238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Metodologia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4CB5BA-7E8B-4C2D-ACCC-8564DFDA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00375"/>
            <a:ext cx="5524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Fontes, integração e regras analíticas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DDE3BA-CD0C-444B-93AA-A98AB563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54DC85-4BF8-44EF-8768-21510053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95700"/>
            <a:ext cx="4238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Desenvolvimento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05A46D-7118-4E88-8E42-B5C15A9D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95700"/>
            <a:ext cx="5524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Arquitetura, orquestração e dashboard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36F438-E934-47B1-A2E5-A9A7570B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D0958C-D6E2-4A86-B6DF-82DFCF28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91025"/>
            <a:ext cx="4238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Resultados e discussão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E1FD9B-6749-4B12-93B5-DA1B7541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91025"/>
            <a:ext cx="5524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Evidências técnicas e análises descritivas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676911-A7C4-4B39-A18B-F3BC3639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71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87F8C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E9053A-DA8D-44F4-B67B-09B7FF44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86350"/>
            <a:ext cx="4238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7324D"/>
                </a:solidFill>
                <a:latin typeface="Segoe UI"/>
                <a:ea typeface="Segoe UI"/>
                <a:cs typeface="Segoe UI"/>
              </a:rPr>
              <a:t>Conclusão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4CFBDF-CF5E-4ED4-BD91-38319DC0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086350"/>
            <a:ext cx="5524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9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26579"/>
                </a:solidFill>
                <a:latin typeface="Segoe UI"/>
                <a:ea typeface="Segoe UI"/>
                <a:cs typeface="Segoe UI"/>
              </a:rPr>
              <a:t>Contribuições, limitações e trabalhos futuros</a:t>
            </a:r>
          </a:p>
        </p:txBody>
      </p:sp>
    </p:spTree>
    <p:extLst>
      <p:ext uri="{BB962C8B-B14F-4D97-AF65-F5344CB8AC3E}">
        <p14:creationId xmlns:p14="http://schemas.microsoft.com/office/powerpoint/2010/main" val="122435368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444C3-A3E4-4023-B627-0DE7D85E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Alinhamentos para a redação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F71E53-D119-4503-9746-4AACE943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5CACE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95CACE"/>
                </a:solidFill>
                <a:latin typeface="Segoe UI"/>
                <a:ea typeface="Segoe UI"/>
                <a:cs typeface="Segoe UI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F3099-9908-49FF-9366-A330F129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53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3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Solução técnica concluída</a:t>
            </a:r>
          </a:p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3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Próxima entrega: texto do TCC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225C9C-4911-4F83-B99C-79122EFD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1066800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D0DCE8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D0DCE8"/>
                </a:solidFill>
                <a:latin typeface="Segoe UI"/>
                <a:ea typeface="Segoe UI"/>
                <a:cs typeface="Segoe UI"/>
              </a:rPr>
              <a:t>Objetivo e título definitivos</a:t>
            </a:r>
          </a:p>
          <a:p xmlns:a="http://schemas.openxmlformats.org/drawingml/2006/main">
            <a:pPr>
              <a:defRPr sz="2400" b="0">
                <a:solidFill>
                  <a:srgbClr val="D0DCE8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D0DCE8"/>
                </a:solidFill>
                <a:latin typeface="Segoe UI"/>
                <a:ea typeface="Segoe UI"/>
                <a:cs typeface="Segoe UI"/>
              </a:rPr>
              <a:t>Resultados e figuras que entram no texto</a:t>
            </a:r>
          </a:p>
          <a:p xmlns:a="http://schemas.openxmlformats.org/drawingml/2006/main">
            <a:pPr>
              <a:defRPr sz="2400" b="0">
                <a:solidFill>
                  <a:srgbClr val="D0DCE8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D0DCE8"/>
                </a:solidFill>
                <a:latin typeface="Segoe UI"/>
                <a:ea typeface="Segoe UI"/>
                <a:cs typeface="Segoe UI"/>
              </a:rPr>
              <a:t>Profundidade da discussão sobre saúde e clima</a:t>
            </a:r>
          </a:p>
          <a:p xmlns:a="http://schemas.openxmlformats.org/drawingml/2006/main">
            <a:pPr>
              <a:defRPr sz="2400" b="0">
                <a:solidFill>
                  <a:srgbClr val="D0DCE8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D0DCE8"/>
                </a:solidFill>
                <a:latin typeface="Segoe UI"/>
                <a:ea typeface="Segoe UI"/>
                <a:cs typeface="Segoe UI"/>
              </a:rPr>
              <a:t>Sequência de capítulos e cronograma de revisão</a:t>
            </a:r>
          </a:p>
        </p:txBody>
      </p:sp>
    </p:spTree>
    <p:extLst>
      <p:ext uri="{BB962C8B-B14F-4D97-AF65-F5344CB8AC3E}">
        <p14:creationId xmlns:p14="http://schemas.microsoft.com/office/powerpoint/2010/main" val="14610866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2026-09-30T20:40:56.9130000Z</dcterms:created>
  <dcterms:modified xsi:type="dcterms:W3CDTF">2026-09-30T20:40:56.9130000Z</dcterms:modified>
</coreProperties>
</file>