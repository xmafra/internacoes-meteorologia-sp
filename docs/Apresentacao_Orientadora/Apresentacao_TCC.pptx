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8983227f8a43bc" /><Relationship Type="http://schemas.openxmlformats.org/officeDocument/2006/relationships/extended-properties" Target="/docProps/app.xml" Id="R0fe6d882b36244de" /><Relationship Type="http://schemas.openxmlformats.org/officeDocument/2006/relationships/officeDocument" Target="/ppt/presentation.xml" Id="Rf4c96a2159724e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ac1a386cf647d0"/>
  </p:sldMasterIdLst>
  <p:notesMasterIdLst>
    <p:notesMasterId xmlns:r="http://schemas.openxmlformats.org/officeDocument/2006/relationships" r:id="R742e112e840c4003"/>
  </p:notesMasterIdLst>
  <p:sldIdLst>
    <p:sldId xmlns:r="http://schemas.openxmlformats.org/officeDocument/2006/relationships" id="256" r:id="Re9b40237c4e74664"/>
    <p:sldId xmlns:r="http://schemas.openxmlformats.org/officeDocument/2006/relationships" id="257" r:id="R21258135d29e4f65"/>
    <p:sldId xmlns:r="http://schemas.openxmlformats.org/officeDocument/2006/relationships" id="258" r:id="Re166c1f13f034ed4"/>
    <p:sldId xmlns:r="http://schemas.openxmlformats.org/officeDocument/2006/relationships" id="259" r:id="Re25c901612a547e5"/>
    <p:sldId xmlns:r="http://schemas.openxmlformats.org/officeDocument/2006/relationships" id="260" r:id="Rd882c616fa1e4448"/>
    <p:sldId xmlns:r="http://schemas.openxmlformats.org/officeDocument/2006/relationships" id="261" r:id="R2658bc80c760459f"/>
    <p:sldId xmlns:r="http://schemas.openxmlformats.org/officeDocument/2006/relationships" id="262" r:id="Raac4ebd2b2d645f4"/>
    <p:sldId xmlns:r="http://schemas.openxmlformats.org/officeDocument/2006/relationships" id="263" r:id="R7a53ba9a16cf4a86"/>
    <p:sldId xmlns:r="http://schemas.openxmlformats.org/officeDocument/2006/relationships" id="264" r:id="R563e049b510647fb"/>
    <p:sldId xmlns:r="http://schemas.openxmlformats.org/officeDocument/2006/relationships" id="265" r:id="Ra2d377df3ad84083"/>
    <p:sldId xmlns:r="http://schemas.openxmlformats.org/officeDocument/2006/relationships" id="266" r:id="Rb735c712cb114070"/>
    <p:sldId xmlns:r="http://schemas.openxmlformats.org/officeDocument/2006/relationships" id="267" r:id="R485718b9c1ac4e7f"/>
    <p:sldId xmlns:r="http://schemas.openxmlformats.org/officeDocument/2006/relationships" id="268" r:id="Re79e01e487fd4d76"/>
    <p:sldId xmlns:r="http://schemas.openxmlformats.org/officeDocument/2006/relationships" id="269" r:id="R61ed24b9db3543d7"/>
    <p:sldId xmlns:r="http://schemas.openxmlformats.org/officeDocument/2006/relationships" id="270" r:id="R6df840209da94a5d"/>
    <p:sldId xmlns:r="http://schemas.openxmlformats.org/officeDocument/2006/relationships" id="271" r:id="R8f6002aa24c24745"/>
    <p:sldId xmlns:r="http://schemas.openxmlformats.org/officeDocument/2006/relationships" id="272" r:id="Rdf9270e9b09e4679"/>
    <p:sldId xmlns:r="http://schemas.openxmlformats.org/officeDocument/2006/relationships" id="273" r:id="R5293bfeaa84c497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6844f3354647cb" /><Relationship Type="http://schemas.openxmlformats.org/officeDocument/2006/relationships/slideMaster" Target="/ppt/slideMasters/slideMaster1.xml" Id="Rbcac1a386cf647d0" /><Relationship Type="http://schemas.openxmlformats.org/officeDocument/2006/relationships/notesMaster" Target="/ppt/notesMasters/notesMaster1.xml" Id="R742e112e840c4003" /><Relationship Type="http://schemas.openxmlformats.org/officeDocument/2006/relationships/presProps" Target="/ppt/presProps.xml" Id="R21f40adbec2545df" /><Relationship Type="http://schemas.openxmlformats.org/officeDocument/2006/relationships/tableStyles" Target="/ppt/tableStyles.xml" Id="R9f26d38ba8104c87" /><Relationship Type="http://schemas.openxmlformats.org/officeDocument/2006/relationships/slide" Target="/ppt/slides/slide1.xml" Id="Re9b40237c4e74664" /><Relationship Type="http://schemas.openxmlformats.org/officeDocument/2006/relationships/slide" Target="/ppt/slides/slide2.xml" Id="R21258135d29e4f65" /><Relationship Type="http://schemas.openxmlformats.org/officeDocument/2006/relationships/slide" Target="/ppt/slides/slide3.xml" Id="Re166c1f13f034ed4" /><Relationship Type="http://schemas.openxmlformats.org/officeDocument/2006/relationships/slide" Target="/ppt/slides/slide4.xml" Id="Re25c901612a547e5" /><Relationship Type="http://schemas.openxmlformats.org/officeDocument/2006/relationships/slide" Target="/ppt/slides/slide5.xml" Id="Rd882c616fa1e4448" /><Relationship Type="http://schemas.openxmlformats.org/officeDocument/2006/relationships/slide" Target="/ppt/slides/slide6.xml" Id="R2658bc80c760459f" /><Relationship Type="http://schemas.openxmlformats.org/officeDocument/2006/relationships/slide" Target="/ppt/slides/slide7.xml" Id="Raac4ebd2b2d645f4" /><Relationship Type="http://schemas.openxmlformats.org/officeDocument/2006/relationships/slide" Target="/ppt/slides/slide8.xml" Id="R7a53ba9a16cf4a86" /><Relationship Type="http://schemas.openxmlformats.org/officeDocument/2006/relationships/slide" Target="/ppt/slides/slide9.xml" Id="R563e049b510647fb" /><Relationship Type="http://schemas.openxmlformats.org/officeDocument/2006/relationships/slide" Target="/ppt/slides/slide10.xml" Id="Ra2d377df3ad84083" /><Relationship Type="http://schemas.openxmlformats.org/officeDocument/2006/relationships/slide" Target="/ppt/slides/slide11.xml" Id="Rb735c712cb114070" /><Relationship Type="http://schemas.openxmlformats.org/officeDocument/2006/relationships/slide" Target="/ppt/slides/slide12.xml" Id="R485718b9c1ac4e7f" /><Relationship Type="http://schemas.openxmlformats.org/officeDocument/2006/relationships/slide" Target="/ppt/slides/slide13.xml" Id="Re79e01e487fd4d76" /><Relationship Type="http://schemas.openxmlformats.org/officeDocument/2006/relationships/slide" Target="/ppt/slides/slide14.xml" Id="R61ed24b9db3543d7" /><Relationship Type="http://schemas.openxmlformats.org/officeDocument/2006/relationships/slide" Target="/ppt/slides/slide15.xml" Id="R6df840209da94a5d" /><Relationship Type="http://schemas.openxmlformats.org/officeDocument/2006/relationships/slide" Target="/ppt/slides/slide16.xml" Id="R8f6002aa24c24745" /><Relationship Type="http://schemas.openxmlformats.org/officeDocument/2006/relationships/slide" Target="/ppt/slides/slide17.xml" Id="Rdf9270e9b09e4679" /><Relationship Type="http://schemas.openxmlformats.org/officeDocument/2006/relationships/slide" Target="/ppt/slides/slide18.xml" Id="R5293bfeaa84c49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20d95f55a241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087d9d1be348a6" /><Relationship Type="http://schemas.openxmlformats.org/officeDocument/2006/relationships/notesMaster" Target="/ppt/notesMasters/notesMaster1.xml" Id="R41b287e99b3749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d03d7f34f94cfc" /><Relationship Type="http://schemas.openxmlformats.org/officeDocument/2006/relationships/notesMaster" Target="/ppt/notesMasters/notesMaster1.xml" Id="Refc206c7a59b40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b821aad6cd4aa4" /><Relationship Type="http://schemas.openxmlformats.org/officeDocument/2006/relationships/notesMaster" Target="/ppt/notesMasters/notesMaster1.xml" Id="R41999590bee648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6556fc6b644001" /><Relationship Type="http://schemas.openxmlformats.org/officeDocument/2006/relationships/notesMaster" Target="/ppt/notesMasters/notesMaster1.xml" Id="R732aecbcd9cf46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bb3bc403eb2498b" /><Relationship Type="http://schemas.openxmlformats.org/officeDocument/2006/relationships/notesMaster" Target="/ppt/notesMasters/notesMaster1.xml" Id="R8d6220296a4d49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3b021e89ba4b2a" /><Relationship Type="http://schemas.openxmlformats.org/officeDocument/2006/relationships/notesMaster" Target="/ppt/notesMasters/notesMaster1.xml" Id="Ref86e4ca77f54b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9238a57e5446ea" /><Relationship Type="http://schemas.openxmlformats.org/officeDocument/2006/relationships/notesMaster" Target="/ppt/notesMasters/notesMaster1.xml" Id="R75542876be10451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239c55cad14b8e" /><Relationship Type="http://schemas.openxmlformats.org/officeDocument/2006/relationships/notesMaster" Target="/ppt/notesMasters/notesMaster1.xml" Id="Rd4c14adec61b445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d337bf79cf44c05" /><Relationship Type="http://schemas.openxmlformats.org/officeDocument/2006/relationships/notesMaster" Target="/ppt/notesMasters/notesMaster1.xml" Id="R47446374610f42a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43c9cd10af04838" /><Relationship Type="http://schemas.openxmlformats.org/officeDocument/2006/relationships/notesMaster" Target="/ppt/notesMasters/notesMaster1.xml" Id="R551cee0177f348d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d9d37f6a6f44474" /><Relationship Type="http://schemas.openxmlformats.org/officeDocument/2006/relationships/notesMaster" Target="/ppt/notesMasters/notesMaster1.xml" Id="R7917804e5bc8447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5458dcd06ac438f" /><Relationship Type="http://schemas.openxmlformats.org/officeDocument/2006/relationships/notesMaster" Target="/ppt/notesMasters/notesMaster1.xml" Id="Rc36d145ada06462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09eb11185d84a87" /><Relationship Type="http://schemas.openxmlformats.org/officeDocument/2006/relationships/notesMaster" Target="/ppt/notesMasters/notesMaster1.xml" Id="R9ddfa162b589434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d955fd76c4b422e" /><Relationship Type="http://schemas.openxmlformats.org/officeDocument/2006/relationships/notesMaster" Target="/ppt/notesMasters/notesMaster1.xml" Id="Ra4290efda4fa4cf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80cc0356a0a45ad" /><Relationship Type="http://schemas.openxmlformats.org/officeDocument/2006/relationships/notesMaster" Target="/ppt/notesMasters/notesMaster1.xml" Id="R0180cb468ecc430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b45dde777df474c" /><Relationship Type="http://schemas.openxmlformats.org/officeDocument/2006/relationships/notesMaster" Target="/ppt/notesMasters/notesMaster1.xml" Id="Ra7eb7c07fc314b6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979ecfcb6f84768" /><Relationship Type="http://schemas.openxmlformats.org/officeDocument/2006/relationships/notesMaster" Target="/ppt/notesMasters/notesMaster1.xml" Id="R0a80b0547f7b454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7a0921b03d541f2" /><Relationship Type="http://schemas.openxmlformats.org/officeDocument/2006/relationships/notesMaster" Target="/ppt/notesMasters/notesMaster1.xml" Id="Ref2625618e2e4d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solução técnica está concluída: pipeline de dados, orquestração e dashboard. Esta reunião apresenta a entrega e alinha a redação do TCC. O título da capa é descritivo e pode ser ajustado ao título acadêmico definitivo.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locais: Confirmação do autor em 30/09/2026; README.md; Dashboard/LEIA-ME.txt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trabalho integra dados públicos de saúde e meteorologia para permitir exploração de padrões de internação no tempo e no território. A contribuição implementada é uma solução de Engenharia de Dados, com rastreabilidade, qualidade e visualização. A pergunta exibida é uma formulação para alinhamento acadêmico, não um objetivo formal já aprovado. As análises do painel são descritivas e não demonstram causalidade.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locais: README.md; docs/Relatorio_Implementacao_Camada_Consumo_Power_BI.md; Dashboard/Dash.Report/report.json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SIH foi extraído por competência, enquanto a camada de consumo filtra a data real de internação. Por isso, 8.409.047 registros da Gold e 8.236.990 internações do recorte analítico são números diferentes e coerentes. O INMET tem 40 estações. O IBGE representa os 645 municípios paulistas. Não chamar os registros de pacientes únicos.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locais: docs/Relatorio_Status_Arquitetura_Pipeline_TCC.md; docs/Relatorio_Implementacao_Camada_Consumo_Power_BI.md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arquitetura Medallion separa preservação dos dados, padronização e integração. O Airflow executa as dependências e os controles de qualidade. Python e Spark fazem o processamento em Docker. A camada de consumo gera tabelas Parquet para o modelo Power BI. Ela recebe a Gold e complementos da Silver já validada. O desenho é lógico: a atualização do Power BI não é apresentada como uma task da DAG.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locais: dags/tcc_pipeline.py; docker-compose.airflow.yaml; src/consumption/build.py; docs/Relatorio_Implementacao_Camada_Consumo_Power_BI.md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com o percurso de um registro: o arquivo mensal chega à Bronze, a Silver padroniza campos e datas, a Gold enriquece a internação com município, diagnóstico e estação, e o consumo agrega para análise. O erro crítico de qualidade bloqueia o avanço. Avisos e métricas informativas preservam a visibilidade das limitações da fonte.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locais: docs/Relatorio_Status_Arquitetura_Pipeline_TCC.md; docs/Relatorio_Implementacao_Camada_Consumo_Power_BI.md; dags/tcc_pipeline.py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Cada município recebe uma estação de referência por distância geográfica. A integração meteorológica usa a estação e a data de internação. Há 172.057 registros da Gold anteriores à janela meteorológica. Eles permanecem na Gold, mas ficam fora da camada de consumo filtrada para 2023–2025. Match de estação e dia não implica preenchimento de todas as variáveis. A distância entre município e estação é uma limitação de representatividade espacial.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locais: docs/Relatorio_Status_Arquitetura_Pipeline_TCC.md; docs/Relatorio_Resultados_Performance_Experimentos_1_2.md; docs/Relatorio_Implementacao_Camada_Consumo_Power_BI.md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orquestração e a solução técnica estão concluídas, conforme confirmação do autor. As evidências quantitativas deste slide são históricas: o relatório de 11/09 registra 24 tasks bem-sucedidas em 33m25,611s, antes da inclusão das duas tasks de consumo documentada em 14/09. Não apresentar esse tempo como medição de toda a DAG atual. O consumo reconciliou seis métricas e passou em oito testes sintéticos.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locais: docs/Relatorio_Resultados_Performance_Experimentos_1_2.md; docs/Relatorio_Implementacao_Camada_Consumo_Power_BI.md; confirmação do autor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fato municipal diária contém a meteorologia sem replicação por diagnóstico. A segunda fato detalha saúde por categoria CID, sexo e faixa etária. O modelo salvo liga tempo, município e estação à fato diária e esta à fato CID pela chave municipio_dia_id. A dimensão CID filtra a fato detalhada. Os totais das duas fatos não devem ser somados entre si. O diagrama omite tabelas auxiliares de apresentação e calendário automático.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locais: Dashboard/Dash.SemanticModel/definition/relationships.tmdl; docs/Relatorio_Implementacao_Camada_Consumo_Power_BI.md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painel organiza a exploração em seis páginas, com cabeçalhos, filtros e cores consistentes. Na demonstração, começar pelo total e então detalhar temperatura, diagnósticos, defasagens, outras variáveis e território. Os slides seguintes descrevem os visuais do projeto salvo. Abrir o PBIP para a demonstração interativa.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locais: Dashboard/LEIA-ME.txt; Dashboard/Dash.Report/report.json; confirmação do autor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página tem cartões de internações, óbitos, proporção de óbitos, permanência média e valor registrado, além da evolução mensal e rankings por município e capítulo CID. Os números no slide são os totais reconciliados documentados para o consumo completo, sem filtros adicionais. A proporção de óbitos é 422.557 dividido por 8.236.990, e a permanência média é 39.845.279 dividido pelo total de internações. Valores SIH não representam necessariamente o custo econômico completo. Não se trata de mortalidade populacional.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locais: Dashboard/Dash.Report/report.json; Dashboard/Dash.SemanticModel/definition/tables/fato_municipio_dia.tmdl; docs/Relatorio_Implementacao_Camada_Consumo_Power_BI.md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página reúne série temporal mensal de internações e temperatura, média de internações por faixas térmicas e variação frio versus quente por município. Frio é temperatura média inferior a 20 graus e quente é média maior ou igual a 25. O denominador é a quantidade de município-dias observados, não população. A faixa de 20 a menos de 25 permanece na análise por faixas, mas não na comparação entre extremos. Não afirmar efeito causal ou resultado numérico sem registrar o filtro observado no painel.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locais: Dashboard/Dash.Report/report.json; Dashboard/Dash.SemanticModel/definition/tables/fato_municipio_dia.tmdl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página passa da classificação ampla ao diagnóstico específico. Há comparações por capítulo, grupos respiratórios e categorias de infecções agudas das vias aéreas inferiores, além de médias frio versus calor por categoria. O objetivo da demonstração é evidenciar detalhamento e coerência dos filtros. Não escolher retrospectivamente somente as maiores variações como confirmação de uma hipótese. As comparações continuam descritivas.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locais: Dashboard/Dash.Report/report.json; Dashboard/Dash.SemanticModel/definition/tables/fato_municipio_dia_cid.tmdl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lag consulta a temperatura da mesma estação em uma data civil exata, e não a linha anterior da tabela. As internações continuam no dia observado. As datas iniciais podem ter lags ausentes por falta de medições de dezembro de 2022. A página compara médias por condição térmica e variação relativa para o mesmo dia, um, três e sete dias antes. A defasagem de maior variação é descritiva, não prova de prazo de resposta biológica.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locais: Dashboard/Dash.Report/report.json; Dashboard/Dash.SemanticModel/definition/tables/Defasagem.tmdl; docs/Relatorio_Implementacao_Camada_Consumo_Power_BI.md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página contém cinco gráficos de média de internações por município-dia observado. As faixas são definidas no modelo. Os limites numéricos de radiação, vento e pressão são fixos no modelo salvo, por isso a redação deve explicar a regra de construção. Precipitação é média dos totais diários quando agregada no painel. Radiação diária é soma das observações horárias válidas. Nenhum desses gráficos isoladamente estima efeito independente de uma variável.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locais: Dashboard/Dash.Report/report.json; Dashboard/Dash.SemanticModel/definition/tables/fato_municipio_dia.tmdl; docs/Relatorio_Implementacao_Camada_Consumo_Power_BI.md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relatório salvo tem mapa Azure Maps com coordenadas municipais, variação entre frio e calor e detalhes em tooltip, além de ranking Top 10. A leitura deve considerar os denominadores e a representatividade da estação. Há uma medida de amostra mínima de 30 município-dias em cada condição, cuja aplicação a cada visual deve ser documentada na redação. Comparação de médias brutas não é taxa populacional. O slide descreve a funcionalidade sem afirmar municípios líderes ou valores que não foram capturados do painel.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locais: Dashboard/Dash.Report/report.json; Dashboard/Dash.SemanticModel/definition/tables/fato_municipio_dia.tmdl; docs/Relatorio_Status_Arquitetura_Pipeline_TCC.md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conclusão técnica é a confirmação atual do autor, e não uma previsão baseada no README antigo. A escrita deve descrever o que existe, organizar evidências e delimitar o alcance das análises. A pergunta final, os limites térmicos, o recorte e o peso relativo da contribuição de Engenharia de Dados devem ser alinhados com a orientadora. Não há neste material uma proposta de novo ciclo obrigatório de desenvolvimento.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locais: Confirmação do autor em 30/09/2026; relatórios locais; Dashboard/Dash.Report/report.json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de estrutura para discutir com a orientadora. Introdução: problema, objetivo e recorte. Fundamentação: engenharia de dados, arquitetura Medallion, qualidade e visualização, além da literatura pertinente à relação saúde e meteorologia. Metodologia: fontes, critérios, unidade de análise, integração, faixas e defasagens. Desenvolvimento: arquitetura implementada e dashboard. Resultados: evidências operacionais e análises com filtros registrados. Conclusão: contribuição, limitações e possíveis extensões.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locais: Proposta de redação elaborada a partir da solução implementada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Encerrar a reunião com decisões que destravem a escrita: formulação definitiva do objetivo, peso de arquitetura versus análise, escolha das figuras e resultados, estrutura dos capítulos e prazo de entrega por parte. Reforçar que a solução técnica está concluída. As limitações metodológicas entram na discussão e não anulam a entrega de Engenharia de Dados.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locais: Proposta de pauta para orientação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936b9955554e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30d5cc056b4b6b" /><Relationship Type="http://schemas.openxmlformats.org/officeDocument/2006/relationships/slideLayout" Target="/ppt/slideLayouts/slideLayout1.xml" Id="Re063dceec05f49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63dceec05f49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5f1868eae54553" /><Relationship Type="http://schemas.openxmlformats.org/officeDocument/2006/relationships/notesSlide" Target="/ppt/notesSlides/notesSlide1.xml" Id="R54e63ef31e8243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e5047ced894ca3" /><Relationship Type="http://schemas.openxmlformats.org/officeDocument/2006/relationships/notesSlide" Target="/ppt/notesSlides/notesSlide2.xml" Id="R54e21bd9ab80432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ce0bd2617e4a51" /><Relationship Type="http://schemas.openxmlformats.org/officeDocument/2006/relationships/notesSlide" Target="/ppt/notesSlides/notesSlide3.xml" Id="Rc8c75ca085844d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fcd7d2e38949c6" /><Relationship Type="http://schemas.openxmlformats.org/officeDocument/2006/relationships/notesSlide" Target="/ppt/notesSlides/notesSlide4.xml" Id="R672ef911f1864c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91587ad2814776" /><Relationship Type="http://schemas.openxmlformats.org/officeDocument/2006/relationships/notesSlide" Target="/ppt/notesSlides/notesSlide5.xml" Id="R3dad38cd83ec4f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382eab0be54b50" /><Relationship Type="http://schemas.openxmlformats.org/officeDocument/2006/relationships/notesSlide" Target="/ppt/notesSlides/notesSlide6.xml" Id="R9b4e25309b2641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a6b7d8e0eb413f" /><Relationship Type="http://schemas.openxmlformats.org/officeDocument/2006/relationships/notesSlide" Target="/ppt/notesSlides/notesSlide7.xml" Id="R0b1facf1c10e46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ee8e26964e4005" /><Relationship Type="http://schemas.openxmlformats.org/officeDocument/2006/relationships/notesSlide" Target="/ppt/notesSlides/notesSlide8.xml" Id="Rf809fd95c9a34f8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0d838dd32e4c80" /><Relationship Type="http://schemas.openxmlformats.org/officeDocument/2006/relationships/notesSlide" Target="/ppt/notesSlides/notesSlide9.xml" Id="Ra6e96efa390a477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6afb2382a545ab" /><Relationship Type="http://schemas.openxmlformats.org/officeDocument/2006/relationships/notesSlide" Target="/ppt/notesSlides/notesSlide10.xml" Id="R7c50a3d4cc0543c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ce43e9c4da459e" /><Relationship Type="http://schemas.openxmlformats.org/officeDocument/2006/relationships/notesSlide" Target="/ppt/notesSlides/notesSlide11.xml" Id="Ra56fe7ff193846b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8524e7c73c4d6c" /><Relationship Type="http://schemas.openxmlformats.org/officeDocument/2006/relationships/notesSlide" Target="/ppt/notesSlides/notesSlide12.xml" Id="R0bd119f14c84471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bf8b1747fd4749" /><Relationship Type="http://schemas.openxmlformats.org/officeDocument/2006/relationships/notesSlide" Target="/ppt/notesSlides/notesSlide13.xml" Id="R900475e11d804b6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32c21e08fe48ab" /><Relationship Type="http://schemas.openxmlformats.org/officeDocument/2006/relationships/notesSlide" Target="/ppt/notesSlides/notesSlide14.xml" Id="Rffae86d4bc1046a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110861250f44e6" /><Relationship Type="http://schemas.openxmlformats.org/officeDocument/2006/relationships/notesSlide" Target="/ppt/notesSlides/notesSlide15.xml" Id="R6d5a859f45e849f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f49b7494664a75" /><Relationship Type="http://schemas.openxmlformats.org/officeDocument/2006/relationships/notesSlide" Target="/ppt/notesSlides/notesSlide16.xml" Id="R1279d687c157408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219c97c1d94c18" /><Relationship Type="http://schemas.openxmlformats.org/officeDocument/2006/relationships/notesSlide" Target="/ppt/notesSlides/notesSlide17.xml" Id="R596a4c369c7745c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b11882f5934c2c" /><Relationship Type="http://schemas.openxmlformats.org/officeDocument/2006/relationships/notesSlide" Target="/ppt/notesSlides/notesSlide18.xml" Id="R3c14654d41664b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11B164-6BE7-4460-B5DC-3CF01D5C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5CACE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95CACE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244D7E-FAFB-47F6-B8C2-68D908F6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91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95CACE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95CACE"/>
                </a:solidFill>
                <a:latin typeface="Segoe UI"/>
                <a:ea typeface="Segoe UI"/>
                <a:cs typeface="Segoe UI"/>
              </a:rPr>
              <a:t>TCC  /  REUNIÃO DE ORIENTAÇÃO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77BE23-48F0-4CFA-A5A7-4CD5D642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0"/>
            <a:ext cx="10858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7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Saúde e clima</a:t>
            </a:r>
          </a:p>
          <a:p xmlns:a="http://schemas.openxmlformats.org/drawingml/2006/main">
            <a:pPr>
              <a:defRPr sz="4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7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no estado de São Paulo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A15039-383F-410A-8B38-9D8B3C98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9097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D0DCE8"/>
                </a:solidFill>
                <a:latin typeface="Segoe UI"/>
                <a:ea typeface="Segoe UI"/>
                <a:cs typeface="Segoe UI"/>
              </a:defRPr>
            </a:pPr>
            <a:r>
              <a:rPr sz="2325" b="0">
                <a:solidFill>
                  <a:srgbClr val="D0DCE8"/>
                </a:solidFill>
                <a:latin typeface="Segoe UI"/>
                <a:ea typeface="Segoe UI"/>
                <a:cs typeface="Segoe UI"/>
              </a:rPr>
              <a:t>Pipeline de dados e dashboard analítico</a:t>
            </a:r>
          </a:p>
          <a:p xmlns:a="http://schemas.openxmlformats.org/drawingml/2006/main">
            <a:pPr>
              <a:defRPr sz="2325" b="0">
                <a:solidFill>
                  <a:srgbClr val="D0DCE8"/>
                </a:solidFill>
                <a:latin typeface="Segoe UI"/>
                <a:ea typeface="Segoe UI"/>
                <a:cs typeface="Segoe UI"/>
              </a:defRPr>
            </a:pPr>
            <a:r>
              <a:rPr sz="2325" b="0">
                <a:solidFill>
                  <a:srgbClr val="D0DCE8"/>
                </a:solidFill>
                <a:latin typeface="Segoe UI"/>
                <a:ea typeface="Segoe UI"/>
                <a:cs typeface="Segoe UI"/>
              </a:rPr>
              <a:t>Internações hospitalares de 2023 a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670D6B-5604-4D44-93A4-B369E187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5CACE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95CACE"/>
                </a:solidFill>
                <a:latin typeface="Segoe UI"/>
                <a:ea typeface="Segoe UI"/>
                <a:cs typeface="Segoe UI"/>
              </a:rPr>
              <a:t>Guilherme</a:t>
            </a:r>
          </a:p>
          <a:p xmlns:a="http://schemas.openxmlformats.org/drawingml/2006/main">
            <a:pPr>
              <a:defRPr sz="1800" b="0">
                <a:solidFill>
                  <a:srgbClr val="95CACE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95CACE"/>
                </a:solidFill>
                <a:latin typeface="Segoe UI"/>
                <a:ea typeface="Segoe UI"/>
                <a:cs typeface="Segoe UI"/>
              </a:rPr>
              <a:t>30 de setembro de 2026</a:t>
            </a:r>
          </a:p>
        </p:txBody>
      </p:sp>
    </p:spTree>
    <p:extLst>
      <p:ext uri="{BB962C8B-B14F-4D97-AF65-F5344CB8AC3E}">
        <p14:creationId xmlns:p14="http://schemas.microsoft.com/office/powerpoint/2010/main" val="7911918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B0A1F1-E045-46EB-82B3-13AF0AD35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Tema e objetivo do trabalho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4FD0AF-1C87-4B9A-934A-33BE29AA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E06772-CF17-479C-BAAA-7A2AD0EC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107156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Integração de internações hospitalares e condições meteorológicas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216182-D25B-49E8-B298-93C32900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Objetivo da solução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919A80-3418-46B5-8ED7-DC8DCD7D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504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Organizar fontes heterogêneas em uma base analítica e disponibilizar sua exploração no Power BI.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51E78C-E563-4AA8-B2F7-22BEE20D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130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Recorte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C79954-E3F7-4A89-B5E8-CD718C96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6600"/>
            <a:ext cx="5143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Estado de São Paulo. Internações com data entre janeiro de 2023 e dezembro de 2025.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CA37D2-C422-41DF-AE40-91AF2D46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81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Pergunta para a redação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696F47-6292-4B6E-BCAC-216D0E9C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8108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Como integrar esses dados e explorar padrões de internação associados às condições meteorológicas?</a:t>
            </a:r>
          </a:p>
        </p:txBody>
      </p:sp>
    </p:spTree>
    <p:extLst>
      <p:ext uri="{BB962C8B-B14F-4D97-AF65-F5344CB8AC3E}">
        <p14:creationId xmlns:p14="http://schemas.microsoft.com/office/powerpoint/2010/main" val="7473289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9632FC-E678-46A5-8BB3-78C3BBC1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Fontes e dimensão da entrega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212428-B9E6-4EB4-8764-B83A5D9A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10972800" cy="3371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4429125"/>
                <a:gridCol w="4210050"/>
              </a:tblGrid>
              <a:tr h="67437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Fonte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Conteúdo integrado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Dimensão documentada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SIH / DATASUS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Registros de internações hospitalares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8.409.047 registros na Gold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INMET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Observações meteorológicas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40 estações e 43.840 estação-dias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IBGE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Municípios e informação geográfica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645 municípios de São Paulo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CID-10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Classificação dos diagnósticos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1.658 categorias no consumo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FA98B1-CDF8-4B66-8D14-EB85FEEB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86375"/>
            <a:ext cx="3190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3825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8.236.990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21AFFB-9362-4BF5-887C-32B8AD9D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34000"/>
            <a:ext cx="742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internações no recorte por data de internação (2023–2025)</a:t>
            </a:r>
          </a:p>
        </p:txBody>
      </p:sp>
    </p:spTree>
    <p:extLst>
      <p:ext uri="{BB962C8B-B14F-4D97-AF65-F5344CB8AC3E}">
        <p14:creationId xmlns:p14="http://schemas.microsoft.com/office/powerpoint/2010/main" val="18668684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5E192A-D3A6-44EC-9F07-B2280AF2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Arquitetura da solução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EBDD38-5648-4D85-BCC7-D8386157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261F4F-0553-4349-A7B9-C5408CD4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16383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33350" tIns="95250" rIns="133350" bIns="9525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Fontes</a:t>
            </a:r>
          </a:p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públicas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C63C8A-A327-49E4-803D-6DE3A3F1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505075"/>
            <a:ext cx="16383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33350" tIns="95250" rIns="133350" bIns="9525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Bronze</a:t>
            </a:r>
          </a:p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Brutos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F41A69-F247-4652-8D8F-2257FE6E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05075"/>
            <a:ext cx="16383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33350" tIns="95250" rIns="133350" bIns="9525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Silver</a:t>
            </a:r>
          </a:p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Tratados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881DB0-E351-4518-9BA8-4A2F637E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505075"/>
            <a:ext cx="16383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33350" tIns="95250" rIns="133350" bIns="9525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Gold</a:t>
            </a:r>
          </a:p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Integrados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ECC48E-FEF8-4014-BA37-2C7E92AA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05075"/>
            <a:ext cx="16383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33350" tIns="95250" rIns="133350" bIns="9525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Consumo</a:t>
            </a:r>
          </a:p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Analítico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89272D-FACC-44F1-A0A9-8E4ECDDD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505075"/>
            <a:ext cx="16383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33350" tIns="95250" rIns="133350" bIns="9525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Power BI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Dashboard</a:t>
            </a:r>
          </a:p>
        </p:txBody>
      </p:sp>
      <p:cxnSp>
        <p:nvCxnSpPr>
          <p:cNvPr id="26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247900" y="3019425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27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105275" y="3019425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2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962650" y="3019425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2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820025" y="3019425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3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677400" y="3019425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8F3765-C5EE-425B-873C-A1F1D4D2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1676400"/>
            <a:ext cx="7181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Airflow: dependências, execução e acompanhamento do pipeline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0989A0-206F-4480-8F8E-8FF67AEC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905250"/>
            <a:ext cx="723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Qualidade após cada camada de dados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C8E5C6-AE05-45B2-B4E5-FE510A35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81525"/>
            <a:ext cx="8934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Python e Apache Spark em Docker</a:t>
            </a:r>
          </a:p>
          <a:p xmlns:a="http://schemas.openxmlformats.org/drawingml/2006/main">
            <a:pPr>
              <a:defRPr sz="2100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Persistência em arquivos Parquet nas camadas tratadas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2C6590-98C7-4919-A1BD-3167A58B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A camada de consumo também utiliza dados complementares da Silver aprovada.</a:t>
            </a:r>
          </a:p>
        </p:txBody>
      </p:sp>
    </p:spTree>
    <p:extLst>
      <p:ext uri="{BB962C8B-B14F-4D97-AF65-F5344CB8AC3E}">
        <p14:creationId xmlns:p14="http://schemas.microsoft.com/office/powerpoint/2010/main" val="8157224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6863C3-3C0B-47DF-AB1F-24F258FB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O papel de cada camada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442D94-6C4B-4BDE-A07C-B4257ABF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3695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4619625"/>
                <a:gridCol w="4448175"/>
              </a:tblGrid>
              <a:tr h="73914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Camada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Responsabilidade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Controle de qualidade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Bronze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Preserva os arquivos recebidos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Chegada, integridade e legibilidade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Silver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Limpa, tipa e padroniza os dados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Tipos, chaves, domínios e períodos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Gold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Integra internação e meteorologia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Joins, cardinalidade e cobertura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Consumo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Agrega fatos e prepara dimensões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Reconciliação dos totais e lags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9FE2FD-E8DC-4BF8-8999-6BDD3DE0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Falhas críticas interrompem o fluxo. Avisos e métricas informativas ficam registrados.</a:t>
            </a:r>
          </a:p>
        </p:txBody>
      </p:sp>
    </p:spTree>
    <p:extLst>
      <p:ext uri="{BB962C8B-B14F-4D97-AF65-F5344CB8AC3E}">
        <p14:creationId xmlns:p14="http://schemas.microsoft.com/office/powerpoint/2010/main" val="12840637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E23479-BE5F-45EB-AE1A-C8B6FD50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Integração de saúde e meteorologia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300C0B-B1F4-4FB6-9068-2E53377D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C62A78-E4BD-4DC4-BA1D-54FD7FD4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2828925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33350" tIns="95250" rIns="133350" bIns="9525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Município</a:t>
            </a:r>
          </a:p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de referência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F0B865-7AB4-4C60-8321-33D4511E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38325"/>
            <a:ext cx="28575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33350" tIns="95250" rIns="133350" bIns="9525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Estação INMET</a:t>
            </a:r>
          </a:p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selecionada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55D2DD-6F06-4B39-94B0-E5216F0B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838325"/>
            <a:ext cx="29337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33350" tIns="95250" rIns="133350" bIns="9525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Meteorologia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do dia da internação</a:t>
            </a:r>
          </a:p>
        </p:txBody>
      </p:sp>
      <p:cxnSp>
        <p:nvCxnSpPr>
          <p:cNvPr id="18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438525" y="2366963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1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486650" y="2366963"/>
            <a:ext cx="1162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FDB7AD-FD4A-48EB-A647-1AF8E91C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Vínculo espacial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C23BE5-39CF-4AC6-8D8B-1BAC293B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645 municípios associados a 40 estações. Distância média documentada: 34,29 km.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04E9F6-6EE5-44C4-84EC-B8B0FD9B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24250"/>
            <a:ext cx="509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Vínculo temporal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3696B3-FF7E-4DF5-B456-322CEFBE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19550"/>
            <a:ext cx="5095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A data da internação determina o encontro com a observação diária da estação.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2C93DD-AE6E-429E-831A-696380CA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A competência do arquivo SIH e a data de internação têm funções diferentes no projeto.</a:t>
            </a:r>
          </a:p>
        </p:txBody>
      </p:sp>
    </p:spTree>
    <p:extLst>
      <p:ext uri="{BB962C8B-B14F-4D97-AF65-F5344CB8AC3E}">
        <p14:creationId xmlns:p14="http://schemas.microsoft.com/office/powerpoint/2010/main" val="18292623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99F5A5-8D75-4083-A01F-EA1AA166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Orquestração e evidências de qualidade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E585A0-9718-4DB6-AA7E-1F955ECC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1F77CB-7300-4BCC-BA62-057CA861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Airflow concluído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602551-9611-48C0-86E8-DCC160F1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Dependências entre camadas, execução dos processamentos e bloqueio em falhas críticas.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BD89FB-4D99-4716-9FF2-0AB0A322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95450"/>
            <a:ext cx="509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Consumo validado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2CCA56-56B4-4D17-929F-61B7248C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90750"/>
            <a:ext cx="5095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Totais reconciliados com a Gold. Sem duplicidades nas chaves das duas fatos.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2EF4FF-6B6C-406B-A8EA-1C8162C9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4191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575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4575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33min26s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588CDE-6403-4D5A-AE61-BAFEB10D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7680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execução documentada até a Gold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BFF352-14A8-4E76-9C3D-51BC667A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00500"/>
            <a:ext cx="4381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575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4575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8 testes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DE94B1-87D6-4499-A483-30E4CBC4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8768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sintéticos aprovados na camada de consumo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A5A9D1-8EE1-497C-8F87-D4AFF255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Medições históricas de setembro. O tempo acima antecede a inclusão do consumo na DAG.</a:t>
            </a:r>
          </a:p>
        </p:txBody>
      </p:sp>
    </p:spTree>
    <p:extLst>
      <p:ext uri="{BB962C8B-B14F-4D97-AF65-F5344CB8AC3E}">
        <p14:creationId xmlns:p14="http://schemas.microsoft.com/office/powerpoint/2010/main" val="17132483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1768AA-8187-4515-9571-442B9706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Modelo analítico do dashboard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70579C-1592-40A2-9B88-912CC508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997731-1665-4C94-8565-DBABFCDD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21907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33350" tIns="95250" rIns="133350" bIns="9525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Tempo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2DE4C9-B8A0-468A-BE2A-98919236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21907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33350" tIns="95250" rIns="133350" bIns="9525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Município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8645CC-F14C-4A3A-8B4F-0B28603C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21907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33350" tIns="95250" rIns="133350" bIns="9525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Estação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1CAA7B-8D1F-4F8E-91E9-A69CFFF3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90800"/>
            <a:ext cx="342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33350" tIns="95250" rIns="133350" bIns="9525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Fato município-dia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578.832 linhas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Saúde + meteorologia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FC65F8-A11E-40F3-A6FC-AE358E29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590800"/>
            <a:ext cx="29813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33350" tIns="95250" rIns="133350" bIns="9525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Fato município-dia-CID</a:t>
            </a:r>
          </a:p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6.597.066 linhas</a:t>
            </a:r>
          </a:p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Saúde por perfil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247F6A-D7E7-40C6-A701-9533F25E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1704975"/>
            <a:ext cx="29813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33350" tIns="95250" rIns="133350" bIns="9525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Diagnóstico CID-10</a:t>
            </a:r>
          </a:p>
        </p:txBody>
      </p:sp>
      <p:cxnSp>
        <p:nvCxnSpPr>
          <p:cNvPr id="25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800350" y="2024063"/>
            <a:ext cx="1200150" cy="12430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26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800350" y="3167063"/>
            <a:ext cx="1200150" cy="1000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27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800350" y="3267075"/>
            <a:ext cx="1200150" cy="10429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28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429500" y="3267075"/>
            <a:ext cx="1171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29" name=""/>
          <p:cNvCxnSpPr>
            <a:stCxn xmlns:a="http://schemas.openxmlformats.org/drawingml/2006/main" id="8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10091738" y="2324100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08E583-AB07-443B-B039-3DD179DE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24350"/>
            <a:ext cx="342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Uma linha por município e dia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1E9D55-994D-49EB-BFB0-354DD709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324350"/>
            <a:ext cx="29813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Detalhe por diagnóstico,</a:t>
            </a:r>
          </a:p>
          <a:p xmlns:a="http://schemas.openxmlformats.org/drawingml/2006/main">
            <a:pPr>
              <a:defRPr sz="1875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sexo e faixa etária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44C46D-5500-4B67-A61D-55AF2767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Duas granularidades complementares, com os mesmos totais de saúde reconciliados.</a:t>
            </a:r>
          </a:p>
        </p:txBody>
      </p:sp>
    </p:spTree>
    <p:extLst>
      <p:ext uri="{BB962C8B-B14F-4D97-AF65-F5344CB8AC3E}">
        <p14:creationId xmlns:p14="http://schemas.microsoft.com/office/powerpoint/2010/main" val="10271120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2F5097-CA36-44B3-88A3-612213ED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Dashboard concluído: seis páginas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137129-4FBD-46D9-9C15-DBD10F38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97418-F504-4C29-B76E-3A84BD08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71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AA634C-F995-4B94-B922-ECD0F1B1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619250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Visão geral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C0AE61-20E5-4C27-B58F-80A277D8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619250"/>
            <a:ext cx="5353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Volume, desfechos e valores registrados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A7F435-2613-4DF6-9051-29393C42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71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DF8618-528A-4281-A4D1-DB075B2B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305050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Meteorologia × internações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FA8462-58FE-4B21-8927-D1BA1279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305050"/>
            <a:ext cx="5353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Evolução temporal e faixas de temperatura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7B7D52-1D78-481A-8AD1-3E5C3BBB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71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6F6947-2345-46A2-AC6F-130F3B16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90850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CID × temperatura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7C1EB6-07AB-48DA-979E-3B3029BB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990850"/>
            <a:ext cx="5353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Capítulos, grupos e categorias diagnósticas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C8AC33-6CFE-45FD-A89B-6DA50738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1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6018F2-ABA3-4EF4-A617-A204403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76650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Defasagem da temperatura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B650AB-AB90-416B-8A38-C86B2D5B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676650"/>
            <a:ext cx="5353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Mesmo dia e 1, 3 e 7 dias anteriores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B97E89-1599-464D-8E1B-9AFCF306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71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5A588F-5366-4105-963B-854B7D54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362450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Outras variáveis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4B82C7-4863-41EB-B74B-938FC11C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362450"/>
            <a:ext cx="5353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Umidade, chuva, radiação, vento e pressão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F74745-7657-4EB4-819C-D091B38C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71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88943C-2B12-4EDB-8A6E-6C1C3B47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048250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Análise territorial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1230B1-3068-49B3-8154-BD1DDD73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5048250"/>
            <a:ext cx="5353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Mapa municipal e comparação entre municípios</a:t>
            </a:r>
          </a:p>
        </p:txBody>
      </p:sp>
    </p:spTree>
    <p:extLst>
      <p:ext uri="{BB962C8B-B14F-4D97-AF65-F5344CB8AC3E}">
        <p14:creationId xmlns:p14="http://schemas.microsoft.com/office/powerpoint/2010/main" val="11193267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F1DD05-6BFC-4AD5-9E4F-368907DD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01  Visão geral das internações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6C7631-BCB8-4FEC-B54B-CBF03B98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40EBEC-998A-41E8-9592-733AD170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609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5100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8.236.990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FE01FB-1B25-4FAE-A480-BC4DE4FC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14625"/>
            <a:ext cx="600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internações no recorte analítico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532780-F52D-49DD-B98A-AD2C1E21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743075"/>
            <a:ext cx="4457700" cy="2124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422.557 óbitos nas internações</a:t>
            </a:r>
          </a:p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5,13% de óbitos / internações</a:t>
            </a:r>
          </a:p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4,84 dias de permanência média</a:t>
            </a:r>
          </a:p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R$ 14,39 bilhões registrados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9B4485-0F3C-455A-8B42-EE428D1A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Visuais da página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10B58F-1F8D-4F18-9DEC-5846C168D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504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Evolução mensal, municípios com mais internações e distribuição por capítulo CID-10.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60D4FF-B86F-4F3E-9238-874F6791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00500"/>
            <a:ext cx="5133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Na demonstração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CCDFDF-E494-4FCA-8CC2-62089C6DA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95800"/>
            <a:ext cx="51339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Aplicar ano, mês e município para mostrar como os indicadores respondem ao recorte.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15CDC8-B971-44AF-B28C-53338ADD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Totais documentados da camada de consumo. Proporções calculadas sobre as internações.</a:t>
            </a:r>
          </a:p>
        </p:txBody>
      </p:sp>
    </p:spTree>
    <p:extLst>
      <p:ext uri="{BB962C8B-B14F-4D97-AF65-F5344CB8AC3E}">
        <p14:creationId xmlns:p14="http://schemas.microsoft.com/office/powerpoint/2010/main" val="2698649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D56672-36D7-4BD1-8831-0E0C5B8F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02  Temperatura e internações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D01986-0C56-4E55-BA16-6D6035E3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87D0CB-70CC-4D74-AD32-03B6467E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095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357ABD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357ABD"/>
                </a:solidFill>
                <a:latin typeface="Segoe UI"/>
                <a:ea typeface="Segoe UI"/>
                <a:cs typeface="Segoe UI"/>
              </a:rPr>
              <a:t>Frio &lt; 20 °C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48BA99-8B8F-4F6D-B999-16571A9E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685925"/>
            <a:ext cx="5095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D9823B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D9823B"/>
                </a:solidFill>
                <a:latin typeface="Segoe UI"/>
                <a:ea typeface="Segoe UI"/>
                <a:cs typeface="Segoe UI"/>
              </a:rPr>
              <a:t>Quente ≥ 25 °C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7C8939-F3FF-4944-AA0A-A120DE2B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09632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Média de internações = internações ÷ município-dias observados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6633E2-C8F7-4638-827F-3E98FA08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382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Leitura temporal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6C07D3-0551-4692-B3FB-899D614F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504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Comparação mensal entre volume de internações e temperatura média de 2023 a 2025.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F169E2-70C8-41DD-9250-5CE0D971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933825"/>
            <a:ext cx="509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Comparação dos recortes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9F4899-6616-4338-BE65-9FB82B74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429125"/>
            <a:ext cx="5095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Médias por faixa de temperatura e variação relativa entre condições frias e quentes.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DFBD0B-AAB3-48E9-A70E-9F78F683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Os limiares são escolhas analíticas do dashboard e devem ser justificados na metodologia.</a:t>
            </a:r>
          </a:p>
        </p:txBody>
      </p:sp>
    </p:spTree>
    <p:extLst>
      <p:ext uri="{BB962C8B-B14F-4D97-AF65-F5344CB8AC3E}">
        <p14:creationId xmlns:p14="http://schemas.microsoft.com/office/powerpoint/2010/main" val="15311191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BA3A0F-137B-4B40-8233-66217C5AD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03  Diagnósticos e temperatura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EA1DF2-85C5-462E-9B9D-6FBAD70C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CE498D-EEC8-4A61-A2A7-86D2696E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3286125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33350" tIns="95250" rIns="133350" bIns="9525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Capítulo CID-10</a:t>
            </a:r>
          </a:p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Panorama dos diagnósticos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939E9B-5A7B-43BC-9AC5-8D1453CE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76425"/>
            <a:ext cx="3286125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33350" tIns="95250" rIns="133350" bIns="9525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Grupo</a:t>
            </a:r>
          </a:p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Doenças respiratórias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F053FE-B5E7-4038-8CD8-1118D0B3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876425"/>
            <a:ext cx="3305175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33350" tIns="95250" rIns="133350" bIns="9525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Categoria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Diagnóstico específico</a:t>
            </a:r>
          </a:p>
        </p:txBody>
      </p:sp>
      <p:cxnSp>
        <p:nvCxnSpPr>
          <p:cNvPr id="18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895725" y="2433638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1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724775" y="2433638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8ACE40-D779-4BAE-8CC6-676D4703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509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O que a página mostra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F4CE09-73FF-41B9-B39E-DFF74813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5095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Variação entre dias frios e quentes em diferentes níveis da classificação CID-10.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ED33F2-1851-47DF-9E0E-0C3C16B2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676650"/>
            <a:ext cx="510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Na demonstração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08AA56-1801-4CD0-9647-AC7E633D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171950"/>
            <a:ext cx="5105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Manter o mesmo ano e município e acompanhar a mudança do capítulo até a categoria.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558C85-AEE8-4E1E-851B-E3A04520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O detalhamento utiliza a fato por CID, sem duplicar a meteorologia a cada diagnóstico.</a:t>
            </a:r>
          </a:p>
        </p:txBody>
      </p:sp>
    </p:spTree>
    <p:extLst>
      <p:ext uri="{BB962C8B-B14F-4D97-AF65-F5344CB8AC3E}">
        <p14:creationId xmlns:p14="http://schemas.microsoft.com/office/powerpoint/2010/main" val="11778529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57AA51-63AC-450F-9A61-EFD39F17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04  Defasagem da temperatura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1A62DB-311B-4178-8303-BEF42302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00AA72-0EE6-4E64-ADA7-95B0C403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Internações do dia observado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0B5397-D1C0-450F-B80C-7CDB7069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33350" tIns="95250" rIns="133350" bIns="9525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Mesmo dia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BD163F-4639-41A9-A8BB-0F834713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2381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Temperatura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E80E91-D3D7-42D8-9957-6981354B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33675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33350" tIns="95250" rIns="133350" bIns="9525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1 dia antes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9EC909-1109-4C42-A29A-222F22EE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667125"/>
            <a:ext cx="2381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Temperatura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C3DCCE-F327-4E7D-B2F7-97112D7B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33675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33350" tIns="95250" rIns="133350" bIns="9525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3 dias antes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E0B509-E875-47E0-80AF-60575528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67125"/>
            <a:ext cx="2381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Temperatura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D7A7A4-4160-4872-A6F1-DFA779BA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733675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33350" tIns="95250" rIns="133350" bIns="9525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7 dias antes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6CA30E-8A57-41AE-9455-4FF67A3D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667125"/>
            <a:ext cx="2381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Temperatura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FD8E74-377B-404F-8E5B-989A3A54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Comparação das médias frio × calor e da variação relativa em cada defasagem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A2638F-60C9-4282-9BF0-0446D0CB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Ausência de medição permanece nula. A data de internação não se desloca.</a:t>
            </a:r>
          </a:p>
        </p:txBody>
      </p:sp>
    </p:spTree>
    <p:extLst>
      <p:ext uri="{BB962C8B-B14F-4D97-AF65-F5344CB8AC3E}">
        <p14:creationId xmlns:p14="http://schemas.microsoft.com/office/powerpoint/2010/main" val="9924126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AC5110-0DF7-4951-B99B-F95B00C6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05  Outras variáveis meteorológicas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D8B4D3-70E1-4097-81D5-0AE56F95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14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7814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57625"/>
                <a:gridCol w="7115175"/>
              </a:tblGrid>
              <a:tr h="6302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Variável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Exploração disponível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302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Umidade relativa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Comparação por faixas percentuais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</a:tr>
              <a:tr h="6302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Precipitação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Dias sem chuva e faixas de volume diário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02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Radiação solar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Faixas de energia diária acumulada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</a:tr>
              <a:tr h="6302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Vento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Faixas de velocidade média diária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02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Pressão atmosférica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Faixas da amplitude diária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B87995-6F7C-45A7-B0C0-48BF76AF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Indicador comum: média de internações por município-dia observado.</a:t>
            </a:r>
          </a:p>
        </p:txBody>
      </p:sp>
    </p:spTree>
    <p:extLst>
      <p:ext uri="{BB962C8B-B14F-4D97-AF65-F5344CB8AC3E}">
        <p14:creationId xmlns:p14="http://schemas.microsoft.com/office/powerpoint/2010/main" val="82947325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E4E005-17F0-4303-8C51-7ED4B4FD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06  Análise territorial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F58F33-2E16-493C-B699-8669597C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E7B50F-B613-41CD-B676-8B1A3F97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A dimensão municipal organiza a leitura espacial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3ABBB3-13A6-4878-9C75-F5746EAB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6575"/>
            <a:ext cx="5019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Mapa municipal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D003BE-BEBA-4E1E-A933-DF7BAA64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50196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Localização dos municípios e variação entre médias de internação em dias frios e quentes.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3ADA07-7105-4440-9A71-AF18AF58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076575"/>
            <a:ext cx="509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Ranking e detalhes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BCA03E-92F2-4175-8AA0-DA98D149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571875"/>
            <a:ext cx="5095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Top 10 da variação e informações de médias, diferença absoluta e amostra nos detalhes.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590F38-EFCF-4E40-B921-C58DE777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5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Na demonstração: selecionar um município e explicar o indicador junto com seus denominadores.</a:t>
            </a:r>
          </a:p>
        </p:txBody>
      </p:sp>
    </p:spTree>
    <p:extLst>
      <p:ext uri="{BB962C8B-B14F-4D97-AF65-F5344CB8AC3E}">
        <p14:creationId xmlns:p14="http://schemas.microsoft.com/office/powerpoint/2010/main" val="38691719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BA135F-BCA4-4271-B6EC-C4A02180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Entrega concluída e foco na escrita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28CA3C-6401-49E9-A10E-0277818A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605267-6426-434D-A910-B8A001252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067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Solução implementada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808425-70F3-4736-A030-F0FF35A8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50673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Pipeline de dados, qualidade, orquestração e dashboard concluídos.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31D23B-2C3D-406D-A794-400471D1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695450"/>
            <a:ext cx="510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Etapa atual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AA48CC-057D-4262-8AD7-4254990D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190750"/>
            <a:ext cx="5105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Redação do TCC e organização das evidências da solução e das análises.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3848100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7448550"/>
              </a:tblGrid>
              <a:tr h="4714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Parte do TCC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Material já disponível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4714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Metodologia e arquitetura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Fontes, camadas, critérios de integração e qualidade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</a:tr>
              <a:tr h="4714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Implementação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Pipeline, Airflow, modelo analítico e dashboard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14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Resultados e discussão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Totais reconciliados, desempenho e seis páginas analíticas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757727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376C59-BCC7-4907-ACB8-E9861CFC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Organização proposta para o TCC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476E4B-10DF-40BB-B240-1B88D82A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B69186-A280-49FB-9C95-C05F54F3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714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F75E17-8151-4143-88C5-8AA5A68F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609725"/>
            <a:ext cx="4238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Introdução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E37E66-BB5D-4EC7-A612-20792ADE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09725"/>
            <a:ext cx="5524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Problema, objetivo, justificativa e recorte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3D9160-E0BA-472B-81A0-7B7F5DE5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714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1AD46C-4677-4AE5-BDD6-D5743BEE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305050"/>
            <a:ext cx="4238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Fundamentação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DBD0CA-52AA-4BB1-9E20-709A7A4D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05050"/>
            <a:ext cx="5524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Engenharia de dados, qualidade e saúde/clima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1D6025-2E37-4A7A-82E7-48060C35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714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077DFC-62A3-42CD-8960-2D7B377B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00375"/>
            <a:ext cx="4238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Metodologia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1DDF64-6BB0-4AA9-8A1C-56F4DE69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00375"/>
            <a:ext cx="5524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Fontes, integração e regras analíticas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01202E-DF16-48D7-A7C6-D7149285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714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BA5726-5937-4ACE-8B7C-195ACEEA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95700"/>
            <a:ext cx="4238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Desenvolvimento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38B00B-FB3D-4CEB-8D52-4E72213F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95700"/>
            <a:ext cx="5524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Arquitetura, orquestração e dashboard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8FA69F-574D-4463-8928-A23CDD54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1025"/>
            <a:ext cx="714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BCFE02-7A46-42EA-9AF1-0160A475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91025"/>
            <a:ext cx="4238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Resultados e discussão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EF85C6-029C-4720-A13E-E7EC6221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391025"/>
            <a:ext cx="5524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Evidências técnicas e análises descritivas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FB7110-EACF-478E-B36B-FF033AC8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714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5D34AF-C0BF-4F1D-A90E-C9F4CF76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86350"/>
            <a:ext cx="4238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Conclusão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B6FABF-12AA-46BB-97F7-A8382A87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086350"/>
            <a:ext cx="5524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Contribuições, limitações e trabalhos futuros</a:t>
            </a:r>
          </a:p>
        </p:txBody>
      </p:sp>
    </p:spTree>
    <p:extLst>
      <p:ext uri="{BB962C8B-B14F-4D97-AF65-F5344CB8AC3E}">
        <p14:creationId xmlns:p14="http://schemas.microsoft.com/office/powerpoint/2010/main" val="155191994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D7CB7F-3625-42E7-B82B-8615C3A9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Alinhamentos para a redação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43D455-5FEB-494E-BDF9-D8730130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5CACE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95CACE"/>
                </a:solidFill>
                <a:latin typeface="Segoe UI"/>
                <a:ea typeface="Segoe UI"/>
                <a:cs typeface="Segoe UI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819040-06DE-4EAC-AE81-10984D91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537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3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Solução técnica concluída</a:t>
            </a:r>
          </a:p>
          <a:p xmlns:a="http://schemas.openxmlformats.org/drawingml/2006/main">
            <a:pPr>
              <a:defRPr sz="33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3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Próxima entrega: texto do TCC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5E88B7-FDF9-4BE9-A4C5-779DC10E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71875"/>
            <a:ext cx="1066800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D0DCE8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D0DCE8"/>
                </a:solidFill>
                <a:latin typeface="Segoe UI"/>
                <a:ea typeface="Segoe UI"/>
                <a:cs typeface="Segoe UI"/>
              </a:rPr>
              <a:t>Objetivo e título definitivos</a:t>
            </a:r>
          </a:p>
          <a:p xmlns:a="http://schemas.openxmlformats.org/drawingml/2006/main">
            <a:pPr>
              <a:defRPr sz="2400" b="0">
                <a:solidFill>
                  <a:srgbClr val="D0DCE8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D0DCE8"/>
                </a:solidFill>
                <a:latin typeface="Segoe UI"/>
                <a:ea typeface="Segoe UI"/>
                <a:cs typeface="Segoe UI"/>
              </a:rPr>
              <a:t>Resultados e figuras que entram no texto</a:t>
            </a:r>
          </a:p>
          <a:p xmlns:a="http://schemas.openxmlformats.org/drawingml/2006/main">
            <a:pPr>
              <a:defRPr sz="2400" b="0">
                <a:solidFill>
                  <a:srgbClr val="D0DCE8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D0DCE8"/>
                </a:solidFill>
                <a:latin typeface="Segoe UI"/>
                <a:ea typeface="Segoe UI"/>
                <a:cs typeface="Segoe UI"/>
              </a:rPr>
              <a:t>Profundidade da discussão sobre saúde e clima</a:t>
            </a:r>
          </a:p>
          <a:p xmlns:a="http://schemas.openxmlformats.org/drawingml/2006/main">
            <a:pPr>
              <a:defRPr sz="2400" b="0">
                <a:solidFill>
                  <a:srgbClr val="D0DCE8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D0DCE8"/>
                </a:solidFill>
                <a:latin typeface="Segoe UI"/>
                <a:ea typeface="Segoe UI"/>
                <a:cs typeface="Segoe UI"/>
              </a:rPr>
              <a:t>Sequência de capítulos e cronograma de revisão</a:t>
            </a:r>
          </a:p>
        </p:txBody>
      </p:sp>
    </p:spTree>
    <p:extLst>
      <p:ext uri="{BB962C8B-B14F-4D97-AF65-F5344CB8AC3E}">
        <p14:creationId xmlns:p14="http://schemas.microsoft.com/office/powerpoint/2010/main" val="2309301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2026-09-30T20:07:51.0130000Z</dcterms:created>
  <dcterms:modified xsi:type="dcterms:W3CDTF">2026-09-30T20:07:51.0130000Z</dcterms:modified>
</coreProperties>
</file>